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62" r:id="rId3"/>
    <p:sldId id="258" r:id="rId4"/>
    <p:sldId id="259" r:id="rId5"/>
    <p:sldId id="260" r:id="rId6"/>
    <p:sldId id="261"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yêu cầu" id="{4D850BEF-9E84-45CE-AA3C-F3C9C4457A9D}">
          <p14:sldIdLst>
            <p14:sldId id="256"/>
          </p14:sldIdLst>
        </p14:section>
        <p14:section name="nội dung" id="{50927470-E02C-4F7C-9E60-E71F3F3E2CE4}">
          <p14:sldIdLst>
            <p14:sldId id="262"/>
            <p14:sldId id="258"/>
            <p14:sldId id="259"/>
            <p14:sldId id="260"/>
            <p14:sldId id="261"/>
            <p14:sldId id="263"/>
            <p14:sldId id="264"/>
            <p14:sldId id="265"/>
            <p14:sldId id="2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AA70F276-1833-4A75-9C1D-A56E2295A68D}" type="datetimeFigureOut">
              <a:rPr lang="en-US" smtClean="0"/>
              <a:t>10/16/2026</a:t>
            </a:fld>
            <a:endParaRPr lang="en-US"/>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28844951-7827-47D4-8276-7DDE1FA7D85A}" type="slidenum">
              <a:rPr lang="en-US" smtClean="0"/>
              <a:t>‹#›</a:t>
            </a:fld>
            <a:endParaRPr lang="en-US"/>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31985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358315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70F276-1833-4A75-9C1D-A56E2295A68D}"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472018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666837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8" name="Footer Placeholder 7"/>
          <p:cNvSpPr>
            <a:spLocks noGrp="1"/>
          </p:cNvSpPr>
          <p:nvPr>
            <p:ph type="ftr" sz="quarter" idx="11"/>
          </p:nvPr>
        </p:nvSpPr>
        <p:spPr/>
        <p:txBody>
          <a:bodyPr/>
          <a:lstStyle/>
          <a:p>
            <a:endParaRPr lang="en-US">
              <a:solidFill>
                <a:srgbClr val="FFFFFF"/>
              </a:solidFill>
            </a:endParaRPr>
          </a:p>
        </p:txBody>
      </p:sp>
      <p:sp>
        <p:nvSpPr>
          <p:cNvPr id="9" name="Slide Number Placeholder 8"/>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1177748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70F276-1833-4A75-9C1D-A56E2295A68D}"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735390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70F276-1833-4A75-9C1D-A56E2295A68D}"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023083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1182180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70F276-1833-4A75-9C1D-A56E2295A68D}"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124122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026736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40146188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28844951-7827-47D4-8276-7DDE1FA7D85A}" type="slidenum">
              <a:rPr lang="en-US" smtClean="0"/>
              <a:pPr/>
              <a:t>‹#›</a:t>
            </a:fld>
            <a:endParaRPr lang="en-US"/>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36061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49103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4" name="Footer Placeholder 3"/>
          <p:cNvSpPr>
            <a:spLocks noGrp="1"/>
          </p:cNvSpPr>
          <p:nvPr>
            <p:ph type="ftr" sz="quarter" idx="11"/>
          </p:nvPr>
        </p:nvSpPr>
        <p:spPr/>
        <p:txBody>
          <a:bodyPr/>
          <a:lstStyle/>
          <a:p>
            <a:endParaRPr lang="en-US">
              <a:solidFill>
                <a:srgbClr val="FFFFFF"/>
              </a:solidFill>
            </a:endParaRPr>
          </a:p>
        </p:txBody>
      </p:sp>
      <p:sp>
        <p:nvSpPr>
          <p:cNvPr id="5" name="Slide Number Placeholder 4"/>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19782991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4" name="Footer Placeholder 3"/>
          <p:cNvSpPr>
            <a:spLocks noGrp="1"/>
          </p:cNvSpPr>
          <p:nvPr>
            <p:ph type="ftr" sz="quarter" idx="11"/>
          </p:nvPr>
        </p:nvSpPr>
        <p:spPr/>
        <p:txBody>
          <a:bodyPr/>
          <a:lstStyle/>
          <a:p>
            <a:endParaRPr lang="en-US">
              <a:solidFill>
                <a:srgbClr val="FFFFFF"/>
              </a:solidFill>
            </a:endParaRPr>
          </a:p>
        </p:txBody>
      </p:sp>
      <p:sp>
        <p:nvSpPr>
          <p:cNvPr id="5" name="Slide Number Placeholder 4"/>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660792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36245984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70F276-1833-4A75-9C1D-A56E2295A68D}" type="datetimeFigureOut">
              <a:rPr lang="en-US" smtClean="0"/>
              <a:pPr/>
              <a:t>10/16/2026</a:t>
            </a:fld>
            <a:endParaRPr lang="en-US" dirty="0"/>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3320687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AA70F276-1833-4A75-9C1D-A56E2295A68D}" type="datetimeFigureOut">
              <a:rPr lang="en-US" smtClean="0"/>
              <a:pPr/>
              <a:t>10/16/2026</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a:solidFill>
                <a:srgbClr val="FFFFFF"/>
              </a:solidFill>
            </a:endParaRPr>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2237352131"/>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F776733-A05B-4A45-903C-A77D9DEBD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3" descr="A pattern of triangles and lines&#10;&#10;AI-generated content may be incorrect.">
            <a:extLst>
              <a:ext uri="{FF2B5EF4-FFF2-40B4-BE49-F238E27FC236}">
                <a16:creationId xmlns:a16="http://schemas.microsoft.com/office/drawing/2014/main" id="{7FAA616C-9131-4965-BFE7-84D367FA6D3A}"/>
              </a:ext>
            </a:extLst>
          </p:cNvPr>
          <p:cNvPicPr>
            <a:picLocks noChangeAspect="1"/>
          </p:cNvPicPr>
          <p:nvPr/>
        </p:nvPicPr>
        <p:blipFill>
          <a:blip r:embed="rId2">
            <a:duotone>
              <a:schemeClr val="bg2">
                <a:shade val="45000"/>
                <a:satMod val="135000"/>
              </a:schemeClr>
              <a:prstClr val="white"/>
            </a:duotone>
            <a:alphaModFix amt="40000"/>
          </a:blip>
          <a:srcRect t="17199" b="1720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4D2466B4-46D0-475C-BA9E-8A583BE6604D}"/>
              </a:ext>
            </a:extLst>
          </p:cNvPr>
          <p:cNvSpPr>
            <a:spLocks noGrp="1"/>
          </p:cNvSpPr>
          <p:nvPr>
            <p:ph type="ctrTitle"/>
          </p:nvPr>
        </p:nvSpPr>
        <p:spPr>
          <a:xfrm>
            <a:off x="1287694" y="1966816"/>
            <a:ext cx="9733231" cy="2481507"/>
          </a:xfrm>
        </p:spPr>
        <p:txBody>
          <a:bodyPr anchor="ctr">
            <a:normAutofit/>
          </a:bodyPr>
          <a:lstStyle/>
          <a:p>
            <a:pPr algn="l"/>
            <a:r>
              <a:rPr lang="en-US" sz="4800" dirty="0">
                <a:solidFill>
                  <a:schemeClr val="tx1"/>
                </a:solidFill>
              </a:rPr>
              <a:t>THỰC HÀNH: ĐÁNH GIÁ CHẤT LƯỢNG THÔNG TIN</a:t>
            </a:r>
          </a:p>
        </p:txBody>
      </p:sp>
      <p:sp>
        <p:nvSpPr>
          <p:cNvPr id="3" name="Subtitle 2">
            <a:extLst>
              <a:ext uri="{FF2B5EF4-FFF2-40B4-BE49-F238E27FC236}">
                <a16:creationId xmlns:a16="http://schemas.microsoft.com/office/drawing/2014/main" id="{DC463596-490B-405A-9DD3-3FA156EAB4EF}"/>
              </a:ext>
            </a:extLst>
          </p:cNvPr>
          <p:cNvSpPr>
            <a:spLocks noGrp="1"/>
          </p:cNvSpPr>
          <p:nvPr>
            <p:ph type="subTitle" idx="1"/>
          </p:nvPr>
        </p:nvSpPr>
        <p:spPr>
          <a:xfrm>
            <a:off x="1237991" y="4591668"/>
            <a:ext cx="9666314" cy="748739"/>
          </a:xfrm>
        </p:spPr>
        <p:txBody>
          <a:bodyPr>
            <a:normAutofit/>
          </a:bodyPr>
          <a:lstStyle/>
          <a:p>
            <a:pPr algn="l"/>
            <a:r>
              <a:rPr lang="en-US" dirty="0">
                <a:solidFill>
                  <a:schemeClr val="tx1"/>
                </a:solidFill>
              </a:rPr>
              <a:t>Thành </a:t>
            </a:r>
            <a:r>
              <a:rPr lang="en-US" dirty="0" err="1">
                <a:solidFill>
                  <a:schemeClr val="tx1"/>
                </a:solidFill>
              </a:rPr>
              <a:t>viên</a:t>
            </a:r>
            <a:r>
              <a:rPr lang="en-US" dirty="0">
                <a:solidFill>
                  <a:schemeClr val="tx1"/>
                </a:solidFill>
              </a:rPr>
              <a:t> </a:t>
            </a:r>
            <a:r>
              <a:rPr lang="en-US" dirty="0" err="1">
                <a:solidFill>
                  <a:schemeClr val="tx1"/>
                </a:solidFill>
              </a:rPr>
              <a:t>nhóm:Nguyễn</a:t>
            </a:r>
            <a:r>
              <a:rPr lang="en-US" dirty="0">
                <a:solidFill>
                  <a:schemeClr val="tx1"/>
                </a:solidFill>
              </a:rPr>
              <a:t> Trí Thành, </a:t>
            </a:r>
            <a:r>
              <a:rPr lang="en-US" dirty="0" err="1">
                <a:solidFill>
                  <a:schemeClr val="tx1"/>
                </a:solidFill>
              </a:rPr>
              <a:t>Phạm</a:t>
            </a:r>
            <a:r>
              <a:rPr lang="en-US" dirty="0">
                <a:solidFill>
                  <a:schemeClr val="tx1"/>
                </a:solidFill>
              </a:rPr>
              <a:t> </a:t>
            </a:r>
            <a:r>
              <a:rPr lang="en-US" dirty="0" err="1">
                <a:solidFill>
                  <a:schemeClr val="tx1"/>
                </a:solidFill>
              </a:rPr>
              <a:t>Trần</a:t>
            </a:r>
            <a:r>
              <a:rPr lang="en-US" dirty="0">
                <a:solidFill>
                  <a:schemeClr val="tx1"/>
                </a:solidFill>
              </a:rPr>
              <a:t> </a:t>
            </a:r>
            <a:r>
              <a:rPr lang="en-US" dirty="0" err="1">
                <a:solidFill>
                  <a:schemeClr val="tx1"/>
                </a:solidFill>
              </a:rPr>
              <a:t>Ngọc</a:t>
            </a:r>
            <a:r>
              <a:rPr lang="en-US" dirty="0">
                <a:solidFill>
                  <a:schemeClr val="tx1"/>
                </a:solidFill>
              </a:rPr>
              <a:t> </a:t>
            </a:r>
            <a:r>
              <a:rPr lang="en-US" dirty="0" err="1">
                <a:solidFill>
                  <a:schemeClr val="tx1"/>
                </a:solidFill>
              </a:rPr>
              <a:t>Thắng</a:t>
            </a:r>
            <a:endParaRPr lang="en-US" dirty="0">
              <a:solidFill>
                <a:schemeClr val="tx1"/>
              </a:solidFill>
            </a:endParaRPr>
          </a:p>
        </p:txBody>
      </p:sp>
      <p:sp>
        <p:nvSpPr>
          <p:cNvPr id="31" name="5-Point Star 12">
            <a:extLst>
              <a:ext uri="{FF2B5EF4-FFF2-40B4-BE49-F238E27FC236}">
                <a16:creationId xmlns:a16="http://schemas.microsoft.com/office/drawing/2014/main" id="{5350CB18-9C03-468A-8579-F1850E8BE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405" y="2650454"/>
            <a:ext cx="840147" cy="778546"/>
          </a:xfrm>
          <a:prstGeom prst="star5">
            <a:avLst>
              <a:gd name="adj" fmla="val 25889"/>
              <a:gd name="hf" fmla="val 105146"/>
              <a:gd name="vf" fmla="val 110557"/>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85520612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2D315-4D06-4042-A8A3-556874237064}"/>
              </a:ext>
            </a:extLst>
          </p:cNvPr>
          <p:cNvSpPr>
            <a:spLocks noGrp="1"/>
          </p:cNvSpPr>
          <p:nvPr>
            <p:ph type="title"/>
          </p:nvPr>
        </p:nvSpPr>
        <p:spPr>
          <a:xfrm>
            <a:off x="432620" y="1917291"/>
            <a:ext cx="10992464" cy="2251586"/>
          </a:xfrm>
        </p:spPr>
        <p:txBody>
          <a:bodyPr>
            <a:normAutofit/>
          </a:bodyPr>
          <a:lstStyle/>
          <a:p>
            <a:r>
              <a:rPr lang="en-US" dirty="0" err="1"/>
              <a:t>Nhiệm</a:t>
            </a:r>
            <a:r>
              <a:rPr lang="en-US" dirty="0"/>
              <a:t> </a:t>
            </a:r>
            <a:r>
              <a:rPr lang="en-US" dirty="0" err="1"/>
              <a:t>vụ</a:t>
            </a:r>
            <a:r>
              <a:rPr lang="en-US" dirty="0"/>
              <a:t> 1: </a:t>
            </a:r>
            <a:r>
              <a:rPr lang="en-US" dirty="0" err="1"/>
              <a:t>tìm</a:t>
            </a:r>
            <a:r>
              <a:rPr lang="en-US" dirty="0"/>
              <a:t> </a:t>
            </a:r>
            <a:r>
              <a:rPr lang="en-US" dirty="0" err="1"/>
              <a:t>kiếm</a:t>
            </a:r>
            <a:r>
              <a:rPr lang="en-US" dirty="0"/>
              <a:t> </a:t>
            </a:r>
            <a:r>
              <a:rPr lang="en-US" dirty="0" err="1"/>
              <a:t>theo</a:t>
            </a:r>
            <a:r>
              <a:rPr lang="en-US" dirty="0"/>
              <a:t> </a:t>
            </a:r>
            <a:r>
              <a:rPr lang="en-US" dirty="0" err="1"/>
              <a:t>mục</a:t>
            </a:r>
            <a:r>
              <a:rPr lang="en-US" dirty="0"/>
              <a:t> </a:t>
            </a:r>
            <a:r>
              <a:rPr lang="en-US" dirty="0" err="1"/>
              <a:t>đích</a:t>
            </a:r>
            <a:r>
              <a:rPr lang="en-US" dirty="0"/>
              <a:t>, </a:t>
            </a:r>
            <a:r>
              <a:rPr lang="en-US" dirty="0" err="1"/>
              <a:t>yêu</a:t>
            </a:r>
            <a:r>
              <a:rPr lang="en-US" dirty="0"/>
              <a:t> </a:t>
            </a:r>
            <a:r>
              <a:rPr lang="en-US" dirty="0" err="1"/>
              <a:t>cầu</a:t>
            </a:r>
            <a:r>
              <a:rPr lang="en-US" dirty="0"/>
              <a:t>.</a:t>
            </a:r>
          </a:p>
        </p:txBody>
      </p:sp>
    </p:spTree>
    <p:extLst>
      <p:ext uri="{BB962C8B-B14F-4D97-AF65-F5344CB8AC3E}">
        <p14:creationId xmlns:p14="http://schemas.microsoft.com/office/powerpoint/2010/main" val="4007933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18FE1-462F-44F6-A8F3-6DAA3C44AC24}"/>
              </a:ext>
            </a:extLst>
          </p:cNvPr>
          <p:cNvSpPr>
            <a:spLocks noGrp="1"/>
          </p:cNvSpPr>
          <p:nvPr>
            <p:ph type="title"/>
          </p:nvPr>
        </p:nvSpPr>
        <p:spPr>
          <a:xfrm>
            <a:off x="685800" y="530145"/>
            <a:ext cx="10394706" cy="1151965"/>
          </a:xfrm>
        </p:spPr>
        <p:txBody>
          <a:bodyPr>
            <a:normAutofit/>
          </a:bodyPr>
          <a:lstStyle/>
          <a:p>
            <a:r>
              <a:rPr lang="en-US" sz="3600" dirty="0" err="1"/>
              <a:t>Trường</a:t>
            </a:r>
            <a:r>
              <a:rPr lang="en-US" sz="3600" dirty="0"/>
              <a:t> </a:t>
            </a:r>
            <a:r>
              <a:rPr lang="en-US" sz="3600" dirty="0" err="1"/>
              <a:t>Trung</a:t>
            </a:r>
            <a:r>
              <a:rPr lang="en-US" sz="3600" dirty="0"/>
              <a:t> </a:t>
            </a:r>
            <a:r>
              <a:rPr lang="en-US" sz="3600" dirty="0" err="1"/>
              <a:t>Học</a:t>
            </a:r>
            <a:r>
              <a:rPr lang="en-US" sz="3600" dirty="0"/>
              <a:t> </a:t>
            </a:r>
            <a:r>
              <a:rPr lang="en-US" sz="3600" dirty="0" err="1"/>
              <a:t>Phổ</a:t>
            </a:r>
            <a:r>
              <a:rPr lang="en-US" sz="3600" dirty="0"/>
              <a:t> </a:t>
            </a:r>
            <a:r>
              <a:rPr lang="en-US" sz="3600" dirty="0" err="1"/>
              <a:t>Thông</a:t>
            </a:r>
            <a:r>
              <a:rPr lang="en-US" sz="3600" dirty="0"/>
              <a:t> </a:t>
            </a:r>
            <a:r>
              <a:rPr lang="en-US" sz="3600" dirty="0" err="1"/>
              <a:t>Chuyên</a:t>
            </a:r>
            <a:r>
              <a:rPr lang="en-US" sz="3600" dirty="0"/>
              <a:t> </a:t>
            </a:r>
            <a:r>
              <a:rPr lang="en-US" sz="3600" dirty="0" err="1"/>
              <a:t>Lý</a:t>
            </a:r>
            <a:r>
              <a:rPr lang="en-US" sz="3600" dirty="0"/>
              <a:t> </a:t>
            </a:r>
            <a:r>
              <a:rPr lang="en-US" sz="3600" dirty="0" err="1"/>
              <a:t>Tự</a:t>
            </a:r>
            <a:r>
              <a:rPr lang="en-US" sz="3600" dirty="0"/>
              <a:t> </a:t>
            </a:r>
            <a:r>
              <a:rPr lang="en-US" sz="3600" dirty="0" err="1"/>
              <a:t>Trong</a:t>
            </a:r>
            <a:endParaRPr lang="en-US" sz="3600" dirty="0"/>
          </a:p>
        </p:txBody>
      </p:sp>
      <p:sp>
        <p:nvSpPr>
          <p:cNvPr id="3" name="Content Placeholder 2">
            <a:extLst>
              <a:ext uri="{FF2B5EF4-FFF2-40B4-BE49-F238E27FC236}">
                <a16:creationId xmlns:a16="http://schemas.microsoft.com/office/drawing/2014/main" id="{0A18531F-1948-4923-8AF8-D4CFC04F54D7}"/>
              </a:ext>
            </a:extLst>
          </p:cNvPr>
          <p:cNvSpPr>
            <a:spLocks noGrp="1"/>
          </p:cNvSpPr>
          <p:nvPr>
            <p:ph sz="quarter" idx="13"/>
          </p:nvPr>
        </p:nvSpPr>
        <p:spPr>
          <a:xfrm>
            <a:off x="685800" y="1484671"/>
            <a:ext cx="10394707" cy="4090219"/>
          </a:xfrm>
        </p:spPr>
        <p:txBody>
          <a:bodyPr anchor="t" anchorCtr="0">
            <a:normAutofit fontScale="85000" lnSpcReduction="20000"/>
          </a:bodyPr>
          <a:lstStyle/>
          <a:p>
            <a:pPr marL="0" indent="0">
              <a:lnSpc>
                <a:spcPct val="100000"/>
              </a:lnSpc>
              <a:buNone/>
            </a:pPr>
            <a:r>
              <a:rPr lang="en-US" sz="2200" dirty="0" err="1"/>
              <a:t>Điểm</a:t>
            </a:r>
            <a:r>
              <a:rPr lang="en-US" sz="2200" dirty="0"/>
              <a:t> </a:t>
            </a:r>
            <a:r>
              <a:rPr lang="en-US" sz="2200" dirty="0" err="1"/>
              <a:t>chuẩn</a:t>
            </a:r>
            <a:r>
              <a:rPr lang="en-US" sz="2200" dirty="0"/>
              <a:t>: </a:t>
            </a:r>
          </a:p>
          <a:p>
            <a:pPr marL="0" indent="0">
              <a:lnSpc>
                <a:spcPct val="100000"/>
              </a:lnSpc>
              <a:buNone/>
            </a:pPr>
            <a:r>
              <a:rPr lang="en-US" sz="2200" dirty="0"/>
              <a:t>-2023:</a:t>
            </a:r>
            <a:r>
              <a:rPr lang="en-US" sz="2200" dirty="0">
                <a:latin typeface="Arial" panose="020B0604020202020204" pitchFamily="34" charset="0"/>
                <a:cs typeface="Arial" panose="020B0604020202020204" pitchFamily="34" charset="0"/>
              </a:rPr>
              <a:t>toán:29,2,văn:27,5,anh:28,15…</a:t>
            </a:r>
          </a:p>
          <a:p>
            <a:pPr marL="0" indent="0">
              <a:lnSpc>
                <a:spcPct val="100000"/>
              </a:lnSpc>
              <a:buNone/>
            </a:pPr>
            <a:r>
              <a:rPr lang="en-US" sz="2200" dirty="0"/>
              <a:t>-2024:</a:t>
            </a:r>
            <a:r>
              <a:rPr lang="en-US" sz="2200" dirty="0">
                <a:latin typeface="Arial" panose="020B0604020202020204" pitchFamily="34" charset="0"/>
                <a:cs typeface="Arial" panose="020B0604020202020204" pitchFamily="34" charset="0"/>
              </a:rPr>
              <a:t>toán:30,8,văn:29,3,anh:32,5…</a:t>
            </a:r>
          </a:p>
          <a:p>
            <a:pPr marL="0" indent="0">
              <a:lnSpc>
                <a:spcPct val="100000"/>
              </a:lnSpc>
              <a:buNone/>
            </a:pPr>
            <a:r>
              <a:rPr lang="en-US" sz="2200" dirty="0"/>
              <a:t>-2025:</a:t>
            </a:r>
            <a:r>
              <a:rPr lang="en-US" sz="2200" dirty="0">
                <a:latin typeface="Arial" panose="020B0604020202020204" pitchFamily="34" charset="0"/>
                <a:cs typeface="Arial" panose="020B0604020202020204" pitchFamily="34" charset="0"/>
              </a:rPr>
              <a:t>toán:31,95,văn:32,25,anh:38,05…</a:t>
            </a:r>
          </a:p>
          <a:p>
            <a:pPr marL="0" indent="0">
              <a:lnSpc>
                <a:spcPct val="100000"/>
              </a:lnSpc>
              <a:buNone/>
            </a:pPr>
            <a:r>
              <a:rPr lang="en-US" sz="2200" dirty="0" err="1"/>
              <a:t>Tiêu</a:t>
            </a:r>
            <a:r>
              <a:rPr lang="en-US" sz="2200" dirty="0"/>
              <a:t> </a:t>
            </a:r>
            <a:r>
              <a:rPr lang="en-US" sz="2200" dirty="0" err="1"/>
              <a:t>chí</a:t>
            </a:r>
            <a:r>
              <a:rPr lang="en-US" sz="2200" dirty="0"/>
              <a:t>: </a:t>
            </a:r>
            <a:r>
              <a:rPr lang="en-US" sz="2200" dirty="0" err="1">
                <a:latin typeface="Arial" panose="020B0604020202020204" pitchFamily="34" charset="0"/>
                <a:cs typeface="Arial" panose="020B0604020202020204" pitchFamily="34" charset="0"/>
              </a:rPr>
              <a:t>Trường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lấy</a:t>
            </a:r>
            <a:r>
              <a:rPr lang="en-US" sz="2200" dirty="0">
                <a:latin typeface="Arial" panose="020B0604020202020204" pitchFamily="34" charset="0"/>
                <a:cs typeface="Arial" panose="020B0604020202020204" pitchFamily="34" charset="0"/>
              </a:rPr>
              <a:t> 455 </a:t>
            </a:r>
            <a:r>
              <a:rPr lang="en-US" sz="2200" dirty="0" err="1">
                <a:latin typeface="Arial" panose="020B0604020202020204" pitchFamily="34" charset="0"/>
                <a:cs typeface="Arial" panose="020B0604020202020204" pitchFamily="34" charset="0"/>
              </a:rPr>
              <a:t>học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sinh</a:t>
            </a:r>
            <a:endParaRPr lang="en-US" sz="2200" dirty="0">
              <a:latin typeface="Arial" panose="020B0604020202020204" pitchFamily="34" charset="0"/>
              <a:cs typeface="Arial" panose="020B0604020202020204" pitchFamily="34" charset="0"/>
            </a:endParaRPr>
          </a:p>
          <a:p>
            <a:pPr marL="0" indent="0">
              <a:lnSpc>
                <a:spcPct val="100000"/>
              </a:lnSpc>
              <a:buNone/>
            </a:pPr>
            <a:r>
              <a:rPr lang="en-US" sz="2200" dirty="0" err="1"/>
              <a:t>Tỉ</a:t>
            </a:r>
            <a:r>
              <a:rPr lang="en-US" sz="2200" dirty="0"/>
              <a:t> </a:t>
            </a:r>
            <a:r>
              <a:rPr lang="en-US" sz="2200" dirty="0" err="1"/>
              <a:t>lệ</a:t>
            </a:r>
            <a:r>
              <a:rPr lang="en-US" sz="2200" dirty="0"/>
              <a:t> </a:t>
            </a:r>
            <a:r>
              <a:rPr lang="en-US" sz="2200" dirty="0" err="1"/>
              <a:t>học</a:t>
            </a:r>
            <a:r>
              <a:rPr lang="en-US" sz="2200" dirty="0"/>
              <a:t> </a:t>
            </a:r>
            <a:r>
              <a:rPr lang="en-US" sz="2200" dirty="0" err="1"/>
              <a:t>sinh</a:t>
            </a:r>
            <a:r>
              <a:rPr lang="en-US" sz="2200" dirty="0"/>
              <a:t> </a:t>
            </a:r>
            <a:r>
              <a:rPr lang="en-US" sz="2200" dirty="0" err="1"/>
              <a:t>tốt</a:t>
            </a:r>
            <a:r>
              <a:rPr lang="en-US" sz="2200" dirty="0"/>
              <a:t> </a:t>
            </a:r>
            <a:r>
              <a:rPr lang="en-US" sz="2200" dirty="0" err="1"/>
              <a:t>nghiệp</a:t>
            </a:r>
            <a:r>
              <a:rPr lang="en-US" sz="2200" dirty="0"/>
              <a:t> </a:t>
            </a:r>
            <a:r>
              <a:rPr lang="en-US" sz="2200" dirty="0" err="1"/>
              <a:t>và</a:t>
            </a:r>
            <a:r>
              <a:rPr lang="en-US" sz="2200" dirty="0"/>
              <a:t> </a:t>
            </a:r>
            <a:r>
              <a:rPr lang="en-US" sz="2200" dirty="0" err="1"/>
              <a:t>vào</a:t>
            </a:r>
            <a:r>
              <a:rPr lang="en-US" sz="2200" dirty="0"/>
              <a:t> </a:t>
            </a:r>
            <a:r>
              <a:rPr lang="en-US" sz="2200" dirty="0" err="1"/>
              <a:t>đại</a:t>
            </a:r>
            <a:r>
              <a:rPr lang="en-US" sz="2200" dirty="0"/>
              <a:t> </a:t>
            </a:r>
            <a:r>
              <a:rPr lang="en-US" sz="2200" dirty="0" err="1"/>
              <a:t>học</a:t>
            </a:r>
            <a:r>
              <a:rPr lang="en-US" sz="2200" dirty="0"/>
              <a:t> </a:t>
            </a:r>
            <a:r>
              <a:rPr lang="en-US" sz="2200" dirty="0" err="1"/>
              <a:t>uy</a:t>
            </a:r>
            <a:r>
              <a:rPr lang="en-US" sz="2200" dirty="0"/>
              <a:t> </a:t>
            </a:r>
            <a:r>
              <a:rPr lang="en-US" sz="2200" dirty="0" err="1"/>
              <a:t>tín</a:t>
            </a:r>
            <a:r>
              <a:rPr lang="en-US" sz="2200" dirty="0"/>
              <a:t>: </a:t>
            </a:r>
            <a:r>
              <a:rPr lang="en-US" sz="2200" dirty="0" err="1">
                <a:latin typeface="Arial" panose="020B0604020202020204" pitchFamily="34" charset="0"/>
                <a:cs typeface="Arial" panose="020B0604020202020204" pitchFamily="34" charset="0"/>
              </a:rPr>
              <a:t>trên</a:t>
            </a:r>
            <a:r>
              <a:rPr lang="en-US" sz="2200" dirty="0">
                <a:latin typeface="Arial" panose="020B0604020202020204" pitchFamily="34" charset="0"/>
                <a:cs typeface="Arial" panose="020B0604020202020204" pitchFamily="34" charset="0"/>
              </a:rPr>
              <a:t> 95%</a:t>
            </a:r>
          </a:p>
          <a:p>
            <a:pPr marL="0" indent="0">
              <a:lnSpc>
                <a:spcPct val="100000"/>
              </a:lnSpc>
              <a:buNone/>
            </a:pPr>
            <a:r>
              <a:rPr lang="en-US" sz="2200" dirty="0" err="1">
                <a:latin typeface="Impact" panose="020B0806030902050204" pitchFamily="34" charset="0"/>
                <a:cs typeface="Arial" panose="020B0604020202020204" pitchFamily="34" charset="0"/>
              </a:rPr>
              <a:t>Thế</a:t>
            </a:r>
            <a:r>
              <a:rPr lang="en-US" sz="2200" dirty="0">
                <a:latin typeface="Impact" panose="020B0806030902050204" pitchFamily="34" charset="0"/>
                <a:cs typeface="Arial" panose="020B0604020202020204" pitchFamily="34" charset="0"/>
              </a:rPr>
              <a:t> </a:t>
            </a:r>
            <a:r>
              <a:rPr lang="en-US" sz="2200" dirty="0" err="1">
                <a:latin typeface="Impact" panose="020B0806030902050204" pitchFamily="34" charset="0"/>
                <a:cs typeface="Arial" panose="020B0604020202020204" pitchFamily="34" charset="0"/>
              </a:rPr>
              <a:t>mạnh</a:t>
            </a:r>
            <a:r>
              <a:rPr lang="en-US" sz="2200" dirty="0">
                <a:latin typeface="Impact" panose="020B080603090205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nhiều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học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sinh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đạt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giải</a:t>
            </a:r>
            <a:r>
              <a:rPr lang="en-US" sz="2200" dirty="0">
                <a:latin typeface="Arial" panose="020B0604020202020204" pitchFamily="34" charset="0"/>
                <a:cs typeface="Arial" panose="020B0604020202020204" pitchFamily="34" charset="0"/>
              </a:rPr>
              <a:t>  HSG </a:t>
            </a:r>
            <a:r>
              <a:rPr lang="en-US" sz="2200" dirty="0" err="1">
                <a:latin typeface="Arial" panose="020B0604020202020204" pitchFamily="34" charset="0"/>
                <a:cs typeface="Arial" panose="020B0604020202020204" pitchFamily="34" charset="0"/>
              </a:rPr>
              <a:t>quốc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gia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môn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Thế</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mạnh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các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môn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tự</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nhiên</a:t>
            </a:r>
            <a:r>
              <a:rPr lang="en-US" sz="2200" dirty="0">
                <a:latin typeface="Arial" panose="020B0604020202020204" pitchFamily="34" charset="0"/>
                <a:cs typeface="Arial" panose="020B0604020202020204" pitchFamily="34" charset="0"/>
              </a:rPr>
              <a:t>.</a:t>
            </a:r>
          </a:p>
          <a:p>
            <a:pPr marL="0" indent="0">
              <a:buNone/>
            </a:pPr>
            <a:r>
              <a:rPr lang="en-US" sz="2200" dirty="0" err="1">
                <a:latin typeface="Impact" panose="020B0806030902050204" pitchFamily="34" charset="0"/>
                <a:cs typeface="Arial" panose="020B0604020202020204" pitchFamily="34" charset="0"/>
              </a:rPr>
              <a:t>Các</a:t>
            </a:r>
            <a:r>
              <a:rPr lang="en-US" sz="2200" dirty="0">
                <a:latin typeface="Impact" panose="020B0806030902050204" pitchFamily="34" charset="0"/>
                <a:cs typeface="Arial" panose="020B0604020202020204" pitchFamily="34" charset="0"/>
              </a:rPr>
              <a:t> </a:t>
            </a:r>
            <a:r>
              <a:rPr lang="en-US" sz="2200" dirty="0" err="1">
                <a:latin typeface="Impact" panose="020B0806030902050204" pitchFamily="34" charset="0"/>
                <a:cs typeface="Arial" panose="020B0604020202020204" pitchFamily="34" charset="0"/>
              </a:rPr>
              <a:t>hoạt</a:t>
            </a:r>
            <a:r>
              <a:rPr lang="en-US" sz="2200" dirty="0">
                <a:latin typeface="Impact" panose="020B0806030902050204" pitchFamily="34" charset="0"/>
                <a:cs typeface="Arial" panose="020B0604020202020204" pitchFamily="34" charset="0"/>
              </a:rPr>
              <a:t> </a:t>
            </a:r>
            <a:r>
              <a:rPr lang="en-US" sz="2200" dirty="0" err="1">
                <a:latin typeface="Impact" panose="020B0806030902050204" pitchFamily="34" charset="0"/>
                <a:cs typeface="Arial" panose="020B0604020202020204" pitchFamily="34" charset="0"/>
              </a:rPr>
              <a:t>động</a:t>
            </a:r>
            <a:r>
              <a:rPr lang="en-US" sz="2200" dirty="0">
                <a:latin typeface="Impact" panose="020B0806030902050204" pitchFamily="34" charset="0"/>
                <a:cs typeface="Arial" panose="020B0604020202020204" pitchFamily="34" charset="0"/>
              </a:rPr>
              <a:t> </a:t>
            </a:r>
            <a:r>
              <a:rPr lang="en-US" sz="2200" dirty="0" err="1">
                <a:latin typeface="Impact" panose="020B0806030902050204" pitchFamily="34" charset="0"/>
                <a:cs typeface="Arial" panose="020B0604020202020204" pitchFamily="34" charset="0"/>
              </a:rPr>
              <a:t>ngoại</a:t>
            </a:r>
            <a:r>
              <a:rPr lang="en-US" sz="2200" dirty="0">
                <a:latin typeface="Impact" panose="020B0806030902050204" pitchFamily="34" charset="0"/>
                <a:cs typeface="Arial" panose="020B0604020202020204" pitchFamily="34" charset="0"/>
              </a:rPr>
              <a:t> </a:t>
            </a:r>
            <a:r>
              <a:rPr lang="en-US" sz="2200" dirty="0" err="1">
                <a:latin typeface="Impact" panose="020B0806030902050204" pitchFamily="34" charset="0"/>
                <a:cs typeface="Arial" panose="020B0604020202020204" pitchFamily="34" charset="0"/>
              </a:rPr>
              <a:t>khóa</a:t>
            </a:r>
            <a:r>
              <a:rPr lang="en-US" sz="2200" dirty="0">
                <a:latin typeface="Impact" panose="020B0806030902050204" pitchFamily="34" charset="0"/>
                <a:cs typeface="Arial" panose="020B0604020202020204" pitchFamily="34" charset="0"/>
              </a:rPr>
              <a:t> </a:t>
            </a:r>
            <a:r>
              <a:rPr lang="en-US" sz="2200" dirty="0" err="1">
                <a:latin typeface="Impact" panose="020B0806030902050204" pitchFamily="34" charset="0"/>
                <a:cs typeface="Arial" panose="020B0604020202020204" pitchFamily="34" charset="0"/>
              </a:rPr>
              <a:t>của</a:t>
            </a:r>
            <a:r>
              <a:rPr lang="en-US" sz="2200" dirty="0">
                <a:latin typeface="Impact" panose="020B0806030902050204" pitchFamily="34" charset="0"/>
                <a:cs typeface="Arial" panose="020B0604020202020204" pitchFamily="34" charset="0"/>
              </a:rPr>
              <a:t> </a:t>
            </a:r>
            <a:r>
              <a:rPr lang="en-US" sz="2200" dirty="0" err="1">
                <a:latin typeface="Impact" panose="020B0806030902050204" pitchFamily="34" charset="0"/>
                <a:cs typeface="Arial" panose="020B0604020202020204" pitchFamily="34" charset="0"/>
              </a:rPr>
              <a:t>trường</a:t>
            </a:r>
            <a:r>
              <a:rPr lang="en-US" sz="2200" dirty="0">
                <a:latin typeface="Impact" panose="020B0806030902050204" pitchFamily="34" charset="0"/>
                <a:cs typeface="Arial" panose="020B0604020202020204" pitchFamily="34" charset="0"/>
              </a:rPr>
              <a:t>:</a:t>
            </a:r>
            <a:r>
              <a:rPr lang="vi-VN" sz="2200" dirty="0">
                <a:latin typeface="Arial" panose="020B0604020202020204" pitchFamily="34" charset="0"/>
                <a:cs typeface="Arial" panose="020B0604020202020204" pitchFamily="34" charset="0"/>
              </a:rPr>
              <a:t>Trường tạo cơ hội cho học sinh tham gia thể thao, câu lạc bộ học thuật, kỹ năng sống, thiện nguyện và bảo vệ môi trường. Trường cũng đẩy mạnh nghiên cứu khoa học, STEM, hoạt động ngoại khóa và kỹ năng sống.</a:t>
            </a:r>
            <a:endParaRPr lang="en-US" sz="2200" dirty="0">
              <a:latin typeface="Arial" panose="020B0604020202020204" pitchFamily="34" charset="0"/>
              <a:cs typeface="Arial" panose="020B0604020202020204" pitchFamily="34" charset="0"/>
            </a:endParaRPr>
          </a:p>
          <a:p>
            <a:pPr marL="0" indent="0">
              <a:lnSpc>
                <a:spcPct val="100000"/>
              </a:lnSpc>
              <a:buNone/>
            </a:pPr>
            <a:endParaRPr lang="en-US" dirty="0"/>
          </a:p>
        </p:txBody>
      </p:sp>
    </p:spTree>
    <p:extLst>
      <p:ext uri="{BB962C8B-B14F-4D97-AF65-F5344CB8AC3E}">
        <p14:creationId xmlns:p14="http://schemas.microsoft.com/office/powerpoint/2010/main" val="99716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D14A1-F741-461F-BABC-4BC0A6FF74F8}"/>
              </a:ext>
            </a:extLst>
          </p:cNvPr>
          <p:cNvSpPr>
            <a:spLocks noGrp="1"/>
          </p:cNvSpPr>
          <p:nvPr>
            <p:ph type="title"/>
          </p:nvPr>
        </p:nvSpPr>
        <p:spPr/>
        <p:txBody>
          <a:bodyPr>
            <a:normAutofit/>
          </a:bodyPr>
          <a:lstStyle/>
          <a:p>
            <a:r>
              <a:rPr lang="en-US" sz="3600" dirty="0" err="1"/>
              <a:t>Trường</a:t>
            </a:r>
            <a:r>
              <a:rPr lang="en-US" sz="3600" dirty="0"/>
              <a:t> </a:t>
            </a:r>
            <a:r>
              <a:rPr lang="en-US" sz="3600" dirty="0" err="1"/>
              <a:t>Trung</a:t>
            </a:r>
            <a:r>
              <a:rPr lang="en-US" sz="3600" dirty="0"/>
              <a:t> </a:t>
            </a:r>
            <a:r>
              <a:rPr lang="en-US" sz="3600" dirty="0" err="1"/>
              <a:t>Học</a:t>
            </a:r>
            <a:r>
              <a:rPr lang="en-US" sz="3600" dirty="0"/>
              <a:t> </a:t>
            </a:r>
            <a:r>
              <a:rPr lang="en-US" sz="3600" dirty="0" err="1"/>
              <a:t>Phổ</a:t>
            </a:r>
            <a:r>
              <a:rPr lang="en-US" sz="3600" dirty="0"/>
              <a:t> </a:t>
            </a:r>
            <a:r>
              <a:rPr lang="en-US" sz="3600" dirty="0" err="1"/>
              <a:t>Thông</a:t>
            </a:r>
            <a:r>
              <a:rPr lang="en-US" sz="3600" dirty="0"/>
              <a:t> </a:t>
            </a:r>
            <a:r>
              <a:rPr lang="en-US" sz="3600" dirty="0" err="1"/>
              <a:t>Chuyên</a:t>
            </a:r>
            <a:r>
              <a:rPr lang="en-US" sz="3600" dirty="0"/>
              <a:t> </a:t>
            </a:r>
            <a:r>
              <a:rPr lang="en-US" sz="3600" dirty="0" err="1"/>
              <a:t>Vị</a:t>
            </a:r>
            <a:r>
              <a:rPr lang="en-US" sz="3600" dirty="0"/>
              <a:t> Thanh</a:t>
            </a:r>
          </a:p>
        </p:txBody>
      </p:sp>
      <p:sp>
        <p:nvSpPr>
          <p:cNvPr id="6" name="Rectangle 3">
            <a:extLst>
              <a:ext uri="{FF2B5EF4-FFF2-40B4-BE49-F238E27FC236}">
                <a16:creationId xmlns:a16="http://schemas.microsoft.com/office/drawing/2014/main" id="{AFE9389C-243C-4B4C-9D73-0BF9C3C1B38F}"/>
              </a:ext>
            </a:extLst>
          </p:cNvPr>
          <p:cNvSpPr>
            <a:spLocks noGrp="1" noChangeArrowheads="1"/>
          </p:cNvSpPr>
          <p:nvPr>
            <p:ph sz="quarter" idx="13"/>
          </p:nvPr>
        </p:nvSpPr>
        <p:spPr bwMode="auto">
          <a:xfrm>
            <a:off x="687389" y="1775303"/>
            <a:ext cx="10395294"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vi-VN" b="1" dirty="0"/>
              <a:t>ĐIỂM CHUẨN:</a:t>
            </a:r>
            <a:r>
              <a:rPr lang="vi-VN" dirty="0"/>
              <a:t> - </a:t>
            </a:r>
            <a:r>
              <a:rPr lang="vi-VN" b="1" dirty="0"/>
              <a:t>2023:</a:t>
            </a:r>
            <a:r>
              <a:rPr lang="vi-VN" dirty="0"/>
              <a:t> TOÁN: 28,5; VĂN: 26,0; ANH: 27,8... </a:t>
            </a:r>
            <a:endParaRPr lang="en-US" dirty="0">
              <a:latin typeface="Impact" panose="020B080603090205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vi-VN" dirty="0"/>
              <a:t>- </a:t>
            </a:r>
            <a:r>
              <a:rPr lang="vi-VN" b="1" dirty="0"/>
              <a:t>2024:</a:t>
            </a:r>
            <a:r>
              <a:rPr lang="vi-VN" dirty="0"/>
              <a:t> TOÁN: 29,8; VĂN: 28,5; ANH: 31,0... </a:t>
            </a:r>
            <a:endParaRPr lang="en-US" dirty="0">
              <a:latin typeface="Impact" panose="020B080603090205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vi-VN" dirty="0"/>
              <a:t>- </a:t>
            </a:r>
            <a:r>
              <a:rPr lang="vi-VN" b="1" dirty="0"/>
              <a:t>2025:</a:t>
            </a:r>
            <a:r>
              <a:rPr lang="vi-VN" dirty="0"/>
              <a:t> TOÁN: 30,5; VĂN: 30,8; ANH: 35,5... </a:t>
            </a:r>
            <a:endParaRPr lang="en-US" dirty="0">
              <a:latin typeface="Impact" panose="020B080603090205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vi-VN" dirty="0"/>
              <a:t>• </a:t>
            </a:r>
            <a:r>
              <a:rPr lang="vi-VN" b="1" dirty="0"/>
              <a:t>TIÊU CHÍ:</a:t>
            </a:r>
            <a:r>
              <a:rPr lang="vi-VN" dirty="0"/>
              <a:t> TRƯỜNG LẤY 350 HỌC SINH </a:t>
            </a:r>
            <a:endParaRPr lang="en-US" dirty="0">
              <a:latin typeface="Impact" panose="020B080603090205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vi-VN" dirty="0"/>
              <a:t>• </a:t>
            </a:r>
            <a:r>
              <a:rPr lang="vi-VN" b="1" dirty="0"/>
              <a:t>TỈ LỆ HỌC SINH TỐT NGHIỆP VÀ VÀO ĐẠI HỌC UY TÍN:</a:t>
            </a:r>
            <a:r>
              <a:rPr lang="vi-VN" dirty="0"/>
              <a:t> TRÊN 98% </a:t>
            </a:r>
            <a:endParaRPr lang="en-US" dirty="0">
              <a:latin typeface="Impact" panose="020B080603090205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vi-VN" dirty="0"/>
              <a:t>• </a:t>
            </a:r>
            <a:r>
              <a:rPr lang="vi-VN" b="1" dirty="0"/>
              <a:t>THẾ MẠNH:</a:t>
            </a:r>
            <a:r>
              <a:rPr lang="vi-VN" dirty="0"/>
              <a:t> NHIỀU HỌC SINH ĐẠT GIẢI HSG QUỐC GIA VÀ TỈNH, CÁC MÔN THẾ MẠNH LÀ TOÁN, LÝ, HÓA, ANH VĂN. </a:t>
            </a:r>
            <a:endParaRPr lang="en-US" dirty="0">
              <a:latin typeface="Impact" panose="020B080603090205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vi-VN" dirty="0"/>
              <a:t>• </a:t>
            </a:r>
            <a:r>
              <a:rPr lang="vi-VN" b="1" dirty="0"/>
              <a:t>CÁC HOẠT ĐỘNG NGOẠI KHÓA CỦA TRƯỜNG:</a:t>
            </a:r>
            <a:r>
              <a:rPr lang="vi-VN" dirty="0"/>
              <a:t> TRƯỜNG TẠO CƠ HỘI CHO HỌC SINH THAM GIA THỂ THAO, CÂU LẠC BỘ NGHỆ THUẬT, KỸ NĂNG SỐNG, THIỆN NGUYỆN VÀ BẢO VỆ MÔI TRƯỜNG. TRƯỜNG CŨNG ĐẨY MẠNH NGHIÊN CỨU KHOA HỌC, STEM, HOẠT ĐỘNG NGOẠI KHÓA VÀ KỸ NĂNG SỐNG.</a:t>
            </a:r>
            <a:endParaRPr kumimoji="0" lang="en-US" altLang="en-US" b="0" i="0" u="none" strike="noStrike" cap="none" normalizeH="0" baseline="0" dirty="0">
              <a:ln>
                <a:noFill/>
              </a:ln>
              <a:solidFill>
                <a:schemeClr val="tx1"/>
              </a:solidFill>
              <a:effectLst/>
              <a:latin typeface="Impact" panose="020B0806030902050204" pitchFamily="34" charset="0"/>
            </a:endParaRPr>
          </a:p>
        </p:txBody>
      </p:sp>
    </p:spTree>
    <p:extLst>
      <p:ext uri="{BB962C8B-B14F-4D97-AF65-F5344CB8AC3E}">
        <p14:creationId xmlns:p14="http://schemas.microsoft.com/office/powerpoint/2010/main" val="582128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4355F-C98C-43FF-B3BB-DFA926D6B6CD}"/>
              </a:ext>
            </a:extLst>
          </p:cNvPr>
          <p:cNvSpPr>
            <a:spLocks noGrp="1"/>
          </p:cNvSpPr>
          <p:nvPr>
            <p:ph type="title"/>
          </p:nvPr>
        </p:nvSpPr>
        <p:spPr/>
        <p:txBody>
          <a:bodyPr>
            <a:normAutofit/>
          </a:bodyPr>
          <a:lstStyle/>
          <a:p>
            <a:r>
              <a:rPr lang="en-US" sz="3600" dirty="0" err="1"/>
              <a:t>Trường</a:t>
            </a:r>
            <a:r>
              <a:rPr lang="en-US" sz="3600" dirty="0"/>
              <a:t> </a:t>
            </a:r>
            <a:r>
              <a:rPr lang="en-US" sz="3600" dirty="0" err="1"/>
              <a:t>Trung</a:t>
            </a:r>
            <a:r>
              <a:rPr lang="en-US" sz="3600" dirty="0"/>
              <a:t> </a:t>
            </a:r>
            <a:r>
              <a:rPr lang="en-US" sz="3600" dirty="0" err="1"/>
              <a:t>Học</a:t>
            </a:r>
            <a:r>
              <a:rPr lang="en-US" sz="3600" dirty="0"/>
              <a:t> </a:t>
            </a:r>
            <a:r>
              <a:rPr lang="en-US" sz="3600" dirty="0" err="1"/>
              <a:t>Phổ</a:t>
            </a:r>
            <a:r>
              <a:rPr lang="en-US" sz="3600" dirty="0"/>
              <a:t> </a:t>
            </a:r>
            <a:r>
              <a:rPr lang="en-US" sz="3600" dirty="0" err="1"/>
              <a:t>Thông</a:t>
            </a:r>
            <a:r>
              <a:rPr lang="en-US" sz="3600" dirty="0"/>
              <a:t> Long </a:t>
            </a:r>
            <a:r>
              <a:rPr lang="en-US" sz="3600" dirty="0" err="1"/>
              <a:t>Mỹ</a:t>
            </a:r>
            <a:endParaRPr lang="en-US" sz="3600" dirty="0"/>
          </a:p>
        </p:txBody>
      </p:sp>
      <p:sp>
        <p:nvSpPr>
          <p:cNvPr id="3" name="Content Placeholder 2">
            <a:extLst>
              <a:ext uri="{FF2B5EF4-FFF2-40B4-BE49-F238E27FC236}">
                <a16:creationId xmlns:a16="http://schemas.microsoft.com/office/drawing/2014/main" id="{0CD433AC-9DAD-458E-9C76-1B8AF6A3F9C8}"/>
              </a:ext>
            </a:extLst>
          </p:cNvPr>
          <p:cNvSpPr>
            <a:spLocks noGrp="1"/>
          </p:cNvSpPr>
          <p:nvPr>
            <p:ph sz="quarter" idx="13"/>
          </p:nvPr>
        </p:nvSpPr>
        <p:spPr>
          <a:xfrm>
            <a:off x="685800" y="1553497"/>
            <a:ext cx="10394707" cy="4070555"/>
          </a:xfrm>
        </p:spPr>
        <p:txBody>
          <a:bodyPr anchor="t" anchorCtr="0">
            <a:noAutofit/>
          </a:bodyPr>
          <a:lstStyle/>
          <a:p>
            <a:pPr marL="0" indent="0">
              <a:lnSpc>
                <a:spcPct val="70000"/>
              </a:lnSpc>
              <a:buNone/>
            </a:pPr>
            <a:r>
              <a:rPr lang="vi-VN" dirty="0"/>
              <a:t>• </a:t>
            </a:r>
            <a:r>
              <a:rPr lang="vi-VN" b="1" dirty="0"/>
              <a:t>ĐIỂM CHUẨN:</a:t>
            </a:r>
            <a:r>
              <a:rPr lang="vi-VN" dirty="0"/>
              <a:t> </a:t>
            </a:r>
            <a:endParaRPr lang="en-US" dirty="0">
              <a:latin typeface="Impact" panose="020B0806030902050204" pitchFamily="34" charset="0"/>
            </a:endParaRPr>
          </a:p>
          <a:p>
            <a:pPr marL="0" indent="0">
              <a:lnSpc>
                <a:spcPct val="70000"/>
              </a:lnSpc>
              <a:buNone/>
            </a:pPr>
            <a:r>
              <a:rPr lang="vi-VN" dirty="0"/>
              <a:t>- </a:t>
            </a:r>
            <a:r>
              <a:rPr lang="vi-VN" b="1" dirty="0"/>
              <a:t>2023:</a:t>
            </a:r>
            <a:r>
              <a:rPr lang="vi-VN" dirty="0"/>
              <a:t> TOÁN: 18,5; VĂN: 19,0; ANH: 17,5... </a:t>
            </a:r>
            <a:endParaRPr lang="en-US" dirty="0"/>
          </a:p>
          <a:p>
            <a:pPr marL="0" indent="0">
              <a:lnSpc>
                <a:spcPct val="70000"/>
              </a:lnSpc>
              <a:buNone/>
            </a:pPr>
            <a:r>
              <a:rPr lang="vi-VN" dirty="0"/>
              <a:t>- </a:t>
            </a:r>
            <a:r>
              <a:rPr lang="vi-VN" b="1" dirty="0"/>
              <a:t>2024:</a:t>
            </a:r>
            <a:r>
              <a:rPr lang="vi-VN" dirty="0"/>
              <a:t> TOÁN: 19,8; VĂN: 20,2; ANH: 18,8... </a:t>
            </a:r>
            <a:endParaRPr lang="en-US" dirty="0"/>
          </a:p>
          <a:p>
            <a:pPr marL="0" indent="0">
              <a:lnSpc>
                <a:spcPct val="70000"/>
              </a:lnSpc>
              <a:buNone/>
            </a:pPr>
            <a:r>
              <a:rPr lang="vi-VN" dirty="0"/>
              <a:t>- </a:t>
            </a:r>
            <a:r>
              <a:rPr lang="vi-VN" b="1" dirty="0"/>
              <a:t>2025:</a:t>
            </a:r>
            <a:r>
              <a:rPr lang="vi-VN" dirty="0"/>
              <a:t> TOÁN: 21,0; VĂN: 21,5; ANH: 20,0... </a:t>
            </a:r>
            <a:endParaRPr lang="en-US" dirty="0"/>
          </a:p>
          <a:p>
            <a:pPr marL="0" indent="0">
              <a:lnSpc>
                <a:spcPct val="70000"/>
              </a:lnSpc>
              <a:buNone/>
            </a:pPr>
            <a:r>
              <a:rPr lang="vi-VN" dirty="0"/>
              <a:t>• </a:t>
            </a:r>
            <a:r>
              <a:rPr lang="vi-VN" b="1" dirty="0"/>
              <a:t>TIÊU CHÍ:</a:t>
            </a:r>
            <a:r>
              <a:rPr lang="vi-VN" dirty="0"/>
              <a:t> TRƯỜNG LẤY 450 HỌC SINH </a:t>
            </a:r>
            <a:endParaRPr lang="en-US" dirty="0"/>
          </a:p>
          <a:p>
            <a:pPr marL="0" indent="0">
              <a:lnSpc>
                <a:spcPct val="70000"/>
              </a:lnSpc>
              <a:buNone/>
            </a:pPr>
            <a:r>
              <a:rPr lang="vi-VN" dirty="0"/>
              <a:t>• </a:t>
            </a:r>
            <a:r>
              <a:rPr lang="vi-VN" b="1" dirty="0"/>
              <a:t>TỈ LỆ HỌC SINH TỐT NGHIỆP VÀ VÀO ĐẠI HỌC UY TÍN:</a:t>
            </a:r>
            <a:r>
              <a:rPr lang="vi-VN" dirty="0"/>
              <a:t> TRÊN 90% </a:t>
            </a:r>
            <a:endParaRPr lang="en-US" dirty="0"/>
          </a:p>
          <a:p>
            <a:pPr marL="0" indent="0">
              <a:lnSpc>
                <a:spcPct val="100000"/>
              </a:lnSpc>
              <a:buNone/>
            </a:pPr>
            <a:r>
              <a:rPr lang="vi-VN" dirty="0"/>
              <a:t>• </a:t>
            </a:r>
            <a:r>
              <a:rPr lang="vi-VN" b="1" dirty="0"/>
              <a:t>THẾ MẠNH:</a:t>
            </a:r>
            <a:r>
              <a:rPr lang="vi-VN" dirty="0"/>
              <a:t> CHẤT LƯỢNG GIÁO DỤC TẠI ĐỊA PHƯƠNG CAO, THẾ MẠNH CÁC MÔN XÃ HỘI VÀ TỰ NHIÊN ĐỒNG ĐỀU, TỈ LỆ ĐẬU NGUYỆN VỌNG 1 ĐẠI HỌC CAO. </a:t>
            </a:r>
            <a:endParaRPr lang="en-US" dirty="0"/>
          </a:p>
          <a:p>
            <a:pPr marL="0" indent="0">
              <a:lnSpc>
                <a:spcPct val="100000"/>
              </a:lnSpc>
              <a:buNone/>
            </a:pPr>
            <a:r>
              <a:rPr lang="vi-VN" dirty="0"/>
              <a:t>• </a:t>
            </a:r>
            <a:r>
              <a:rPr lang="vi-VN" b="1" dirty="0"/>
              <a:t>CÁC HOẠT ĐỘNG NGOẠI KHÓA CỦA TRƯỜNG:</a:t>
            </a:r>
            <a:r>
              <a:rPr lang="vi-VN" dirty="0"/>
              <a:t> TRƯỜNG TẠO CƠ HỘI CHO HỌC SINH THAM GIA THỂ THAO, CÂU LẠC BỘ NGHỆ THUẬT, KỸ NĂNG SỐNG, THIỆN NGUYỆN VÀ BẢO VỆ MÔI TRƯỜNG. TRƯỜNG CŨNG ĐẨY MẠNH NGHIÊN CỨU KHOA HỌC, STEM, HOẠT ĐỘNG NGOẠI KHÓA VÀ KỸ NĂNG SỐNG.</a:t>
            </a:r>
            <a:endParaRPr lang="en-US" dirty="0"/>
          </a:p>
        </p:txBody>
      </p:sp>
    </p:spTree>
    <p:extLst>
      <p:ext uri="{BB962C8B-B14F-4D97-AF65-F5344CB8AC3E}">
        <p14:creationId xmlns:p14="http://schemas.microsoft.com/office/powerpoint/2010/main" val="2535938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DA919-A95D-481E-B7CE-3496D850E0B0}"/>
              </a:ext>
            </a:extLst>
          </p:cNvPr>
          <p:cNvSpPr>
            <a:spLocks noGrp="1"/>
          </p:cNvSpPr>
          <p:nvPr>
            <p:ph type="title"/>
          </p:nvPr>
        </p:nvSpPr>
        <p:spPr>
          <a:xfrm>
            <a:off x="683625" y="302342"/>
            <a:ext cx="10396882" cy="1151965"/>
          </a:xfrm>
        </p:spPr>
        <p:txBody>
          <a:bodyPr>
            <a:normAutofit/>
          </a:bodyPr>
          <a:lstStyle/>
          <a:p>
            <a:r>
              <a:rPr lang="en-US" sz="3600" dirty="0" err="1"/>
              <a:t>Trường</a:t>
            </a:r>
            <a:r>
              <a:rPr lang="en-US" sz="3600" dirty="0"/>
              <a:t> </a:t>
            </a:r>
            <a:r>
              <a:rPr lang="en-US" sz="3600" dirty="0" err="1"/>
              <a:t>Trung</a:t>
            </a:r>
            <a:r>
              <a:rPr lang="en-US" sz="3600" dirty="0"/>
              <a:t> </a:t>
            </a:r>
            <a:r>
              <a:rPr lang="en-US" sz="3600" dirty="0" err="1"/>
              <a:t>Học</a:t>
            </a:r>
            <a:r>
              <a:rPr lang="en-US" sz="3600" dirty="0"/>
              <a:t> </a:t>
            </a:r>
            <a:r>
              <a:rPr lang="en-US" sz="3600" dirty="0" err="1"/>
              <a:t>Phổ</a:t>
            </a:r>
            <a:r>
              <a:rPr lang="en-US" sz="3600" dirty="0"/>
              <a:t> </a:t>
            </a:r>
            <a:r>
              <a:rPr lang="en-US" sz="3600" dirty="0" err="1"/>
              <a:t>Thông</a:t>
            </a:r>
            <a:r>
              <a:rPr lang="en-US" sz="3600" dirty="0"/>
              <a:t> </a:t>
            </a:r>
            <a:r>
              <a:rPr lang="en-US" sz="3600" dirty="0" err="1"/>
              <a:t>Tây</a:t>
            </a:r>
            <a:r>
              <a:rPr lang="en-US" sz="3600" dirty="0"/>
              <a:t> </a:t>
            </a:r>
            <a:r>
              <a:rPr lang="en-US" sz="3600" dirty="0" err="1"/>
              <a:t>Đô</a:t>
            </a:r>
            <a:endParaRPr lang="en-US" sz="3600" dirty="0"/>
          </a:p>
        </p:txBody>
      </p:sp>
      <p:sp>
        <p:nvSpPr>
          <p:cNvPr id="3" name="Content Placeholder 2">
            <a:extLst>
              <a:ext uri="{FF2B5EF4-FFF2-40B4-BE49-F238E27FC236}">
                <a16:creationId xmlns:a16="http://schemas.microsoft.com/office/drawing/2014/main" id="{E022005A-A3A7-4E22-9141-39F0F838A986}"/>
              </a:ext>
            </a:extLst>
          </p:cNvPr>
          <p:cNvSpPr>
            <a:spLocks noGrp="1"/>
          </p:cNvSpPr>
          <p:nvPr>
            <p:ph sz="quarter" idx="13"/>
          </p:nvPr>
        </p:nvSpPr>
        <p:spPr>
          <a:xfrm>
            <a:off x="685800" y="1671484"/>
            <a:ext cx="10394707" cy="3834581"/>
          </a:xfrm>
        </p:spPr>
        <p:txBody>
          <a:bodyPr anchor="t" anchorCtr="0">
            <a:normAutofit fontScale="85000" lnSpcReduction="10000"/>
          </a:bodyPr>
          <a:lstStyle/>
          <a:p>
            <a:pPr marL="0" indent="0">
              <a:buNone/>
            </a:pPr>
            <a:r>
              <a:rPr lang="vi-VN" dirty="0">
                <a:effectLst/>
              </a:rPr>
              <a:t>• </a:t>
            </a:r>
            <a:r>
              <a:rPr lang="vi-VN" b="1" dirty="0">
                <a:effectLst/>
              </a:rPr>
              <a:t>ĐIỂM CHUẨN:</a:t>
            </a:r>
            <a:r>
              <a:rPr lang="vi-VN" dirty="0">
                <a:effectLst/>
              </a:rPr>
              <a:t> </a:t>
            </a:r>
            <a:endParaRPr lang="en-US" dirty="0">
              <a:effectLst/>
            </a:endParaRPr>
          </a:p>
          <a:p>
            <a:pPr marL="0" indent="0">
              <a:buNone/>
            </a:pPr>
            <a:r>
              <a:rPr lang="vi-VN" dirty="0">
                <a:effectLst/>
              </a:rPr>
              <a:t>- </a:t>
            </a:r>
            <a:r>
              <a:rPr lang="vi-VN" b="1" dirty="0">
                <a:effectLst/>
              </a:rPr>
              <a:t>2023:</a:t>
            </a:r>
            <a:r>
              <a:rPr lang="vi-VN" dirty="0">
                <a:effectLst/>
              </a:rPr>
              <a:t> TOÁN: 12,5; VĂN: 13,0; ANH: 12,0... </a:t>
            </a:r>
            <a:endParaRPr lang="en-US" dirty="0">
              <a:effectLst/>
            </a:endParaRPr>
          </a:p>
          <a:p>
            <a:pPr marL="0" indent="0">
              <a:buNone/>
            </a:pPr>
            <a:r>
              <a:rPr lang="vi-VN" dirty="0">
                <a:effectLst/>
              </a:rPr>
              <a:t>- </a:t>
            </a:r>
            <a:r>
              <a:rPr lang="vi-VN" b="1" dirty="0">
                <a:effectLst/>
              </a:rPr>
              <a:t>2024:</a:t>
            </a:r>
            <a:r>
              <a:rPr lang="vi-VN" dirty="0">
                <a:effectLst/>
              </a:rPr>
              <a:t> TOÁN: 13,5; VĂN: 14,0; ANH: 13,2... </a:t>
            </a:r>
            <a:endParaRPr lang="en-US" dirty="0">
              <a:effectLst/>
            </a:endParaRPr>
          </a:p>
          <a:p>
            <a:pPr marL="0" indent="0">
              <a:buNone/>
            </a:pPr>
            <a:r>
              <a:rPr lang="vi-VN" dirty="0">
                <a:effectLst/>
              </a:rPr>
              <a:t>- </a:t>
            </a:r>
            <a:r>
              <a:rPr lang="vi-VN" b="1" dirty="0">
                <a:effectLst/>
              </a:rPr>
              <a:t>2025:</a:t>
            </a:r>
            <a:r>
              <a:rPr lang="vi-VN" dirty="0">
                <a:effectLst/>
              </a:rPr>
              <a:t> TOÁN: 14,8; VĂN: 15,0; ANH: 14,5... </a:t>
            </a:r>
            <a:endParaRPr lang="en-US" dirty="0">
              <a:effectLst/>
            </a:endParaRPr>
          </a:p>
          <a:p>
            <a:pPr marL="0" indent="0">
              <a:buNone/>
            </a:pPr>
            <a:r>
              <a:rPr lang="vi-VN" dirty="0">
                <a:effectLst/>
              </a:rPr>
              <a:t>• </a:t>
            </a:r>
            <a:r>
              <a:rPr lang="vi-VN" b="1" dirty="0">
                <a:effectLst/>
              </a:rPr>
              <a:t>TIÊU CHÍ:</a:t>
            </a:r>
            <a:r>
              <a:rPr lang="vi-VN" dirty="0">
                <a:effectLst/>
              </a:rPr>
              <a:t> TRƯỜNG LẤY 380 HỌC SINH </a:t>
            </a:r>
            <a:endParaRPr lang="en-US" dirty="0">
              <a:effectLst/>
            </a:endParaRPr>
          </a:p>
          <a:p>
            <a:pPr marL="0" indent="0">
              <a:buNone/>
            </a:pPr>
            <a:r>
              <a:rPr lang="vi-VN" dirty="0">
                <a:effectLst/>
              </a:rPr>
              <a:t>• </a:t>
            </a:r>
            <a:r>
              <a:rPr lang="vi-VN" b="1" dirty="0">
                <a:effectLst/>
              </a:rPr>
              <a:t>TỈ LỆ HỌC SINH TỐT NGHIỆP VÀ VÀO ĐẠI HỌC UY TÍN:</a:t>
            </a:r>
            <a:r>
              <a:rPr lang="vi-VN" dirty="0">
                <a:effectLst/>
              </a:rPr>
              <a:t> TRÊN 85% </a:t>
            </a:r>
            <a:endParaRPr lang="en-US" dirty="0">
              <a:effectLst/>
            </a:endParaRPr>
          </a:p>
          <a:p>
            <a:pPr marL="0" indent="0">
              <a:buNone/>
            </a:pPr>
            <a:r>
              <a:rPr lang="vi-VN" dirty="0">
                <a:effectLst/>
              </a:rPr>
              <a:t>• </a:t>
            </a:r>
            <a:r>
              <a:rPr lang="vi-VN" b="1" dirty="0">
                <a:effectLst/>
              </a:rPr>
              <a:t>THẾ MẠNH:</a:t>
            </a:r>
            <a:r>
              <a:rPr lang="vi-VN" dirty="0">
                <a:effectLst/>
              </a:rPr>
              <a:t> MÔI TRƯỜNG HỌC TẬP THÂN THIỆN, ĐÀO TẠO PHÙ HỢP NHIỀU ĐỐI TƯỢNG, ĐẨYMẠNH PHONG TRÀO THỂ THAO VÀ KỸ NĂNG THỰC HÀNH. </a:t>
            </a:r>
            <a:endParaRPr lang="en-US" dirty="0">
              <a:effectLst/>
            </a:endParaRPr>
          </a:p>
          <a:p>
            <a:pPr marL="0" indent="0">
              <a:buNone/>
            </a:pPr>
            <a:r>
              <a:rPr lang="vi-VN" dirty="0">
                <a:effectLst/>
              </a:rPr>
              <a:t>•</a:t>
            </a:r>
            <a:r>
              <a:rPr lang="en-US" dirty="0">
                <a:effectLst/>
              </a:rPr>
              <a:t> </a:t>
            </a:r>
            <a:r>
              <a:rPr lang="vi-VN" b="1" dirty="0">
                <a:effectLst/>
              </a:rPr>
              <a:t>CÁC HOẠT ĐỘNG NGOẠI KHÓA:</a:t>
            </a:r>
            <a:r>
              <a:rPr lang="vi-VN" dirty="0">
                <a:effectLst/>
              </a:rPr>
              <a:t> TỔ CHỨC CÂU LẠC BỘ HỌC THUẬT, THỂ THAO, KỸ NĂNG SỐNG, THIỆN NGUYỆN, BẢO VỆ MÔI TRƯỜNG, STEM VÀ NGHIÊN CỨU KHOA HỌC.</a:t>
            </a:r>
          </a:p>
          <a:p>
            <a:endParaRPr lang="en-US" dirty="0"/>
          </a:p>
        </p:txBody>
      </p:sp>
    </p:spTree>
    <p:extLst>
      <p:ext uri="{BB962C8B-B14F-4D97-AF65-F5344CB8AC3E}">
        <p14:creationId xmlns:p14="http://schemas.microsoft.com/office/powerpoint/2010/main" val="423412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0C0E4-439C-48EA-96BC-A822469E0C01}"/>
              </a:ext>
            </a:extLst>
          </p:cNvPr>
          <p:cNvSpPr>
            <a:spLocks noGrp="1"/>
          </p:cNvSpPr>
          <p:nvPr>
            <p:ph type="title"/>
          </p:nvPr>
        </p:nvSpPr>
        <p:spPr>
          <a:xfrm>
            <a:off x="666137" y="1976285"/>
            <a:ext cx="10396882" cy="2349910"/>
          </a:xfrm>
        </p:spPr>
        <p:txBody>
          <a:bodyPr/>
          <a:lstStyle/>
          <a:p>
            <a:r>
              <a:rPr lang="en-US" dirty="0" err="1"/>
              <a:t>NhiỆM</a:t>
            </a:r>
            <a:r>
              <a:rPr lang="en-US" dirty="0"/>
              <a:t> VỤ 2: QUYẾT ĐỊNH DỰA TRÊN CHẤT LƯỢNG THÔNG TIN.</a:t>
            </a:r>
          </a:p>
        </p:txBody>
      </p:sp>
    </p:spTree>
    <p:extLst>
      <p:ext uri="{BB962C8B-B14F-4D97-AF65-F5344CB8AC3E}">
        <p14:creationId xmlns:p14="http://schemas.microsoft.com/office/powerpoint/2010/main" val="3323920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CDB1D-4935-4A29-8689-7CB196AF258C}"/>
              </a:ext>
            </a:extLst>
          </p:cNvPr>
          <p:cNvSpPr>
            <a:spLocks noGrp="1"/>
          </p:cNvSpPr>
          <p:nvPr>
            <p:ph type="title"/>
          </p:nvPr>
        </p:nvSpPr>
        <p:spPr>
          <a:xfrm>
            <a:off x="249223" y="164535"/>
            <a:ext cx="10396882" cy="1151965"/>
          </a:xfrm>
        </p:spPr>
        <p:txBody>
          <a:bodyPr>
            <a:normAutofit/>
          </a:bodyPr>
          <a:lstStyle/>
          <a:p>
            <a:r>
              <a:rPr lang="en-US" sz="3600" dirty="0" err="1"/>
              <a:t>Đánh</a:t>
            </a:r>
            <a:r>
              <a:rPr lang="en-US" sz="3600" dirty="0"/>
              <a:t> </a:t>
            </a:r>
            <a:r>
              <a:rPr lang="en-US" sz="3600" dirty="0" err="1"/>
              <a:t>giá</a:t>
            </a:r>
            <a:r>
              <a:rPr lang="en-US" sz="3600" dirty="0"/>
              <a:t> </a:t>
            </a:r>
            <a:r>
              <a:rPr lang="en-US" sz="3600" dirty="0" err="1"/>
              <a:t>thông</a:t>
            </a:r>
            <a:r>
              <a:rPr lang="en-US" sz="3600" dirty="0"/>
              <a:t> tin</a:t>
            </a:r>
          </a:p>
        </p:txBody>
      </p:sp>
      <p:sp>
        <p:nvSpPr>
          <p:cNvPr id="15" name="Rectangle 4">
            <a:extLst>
              <a:ext uri="{FF2B5EF4-FFF2-40B4-BE49-F238E27FC236}">
                <a16:creationId xmlns:a16="http://schemas.microsoft.com/office/drawing/2014/main" id="{DDC7AB1C-9B8B-417B-8D97-3B771CADF587}"/>
              </a:ext>
            </a:extLst>
          </p:cNvPr>
          <p:cNvSpPr>
            <a:spLocks noGrp="1" noChangeArrowheads="1"/>
          </p:cNvSpPr>
          <p:nvPr>
            <p:ph sz="quarter" idx="13"/>
          </p:nvPr>
        </p:nvSpPr>
        <p:spPr bwMode="auto">
          <a:xfrm>
            <a:off x="249223" y="848571"/>
            <a:ext cx="11411835" cy="500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8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Tính</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mới</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8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tin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thu</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thập</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về</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3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trường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THPT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Chuyên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Vị</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Thanh, Long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Mỹ</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Tây</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Đô</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được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tham</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khảo</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và</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cập</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nhật</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từ</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các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nguồn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báo</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tuyển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sinh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website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của</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Sở</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Giáo</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dục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&amp;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Đào</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tạo</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Hậu</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Giang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và</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các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trang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tin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chính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thức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của</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các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trường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80000"/>
              </a:lnSpc>
              <a:spcBef>
                <a:spcPct val="0"/>
              </a:spcBef>
              <a:spcAft>
                <a:spcPct val="0"/>
              </a:spcAft>
              <a:buClrTx/>
              <a:buSzTx/>
              <a:buNone/>
              <a:tabLst/>
            </a:pPr>
            <a:r>
              <a:rPr lang="en-US" altLang="en-US" cap="none" dirty="0">
                <a:latin typeface="Arial" panose="020B0604020202020204" pitchFamily="34" charset="0"/>
                <a:cs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tin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không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bị</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lỗi</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thời</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phản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ánh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đúng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tình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hình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tuyển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sinh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và</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chất</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lượng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đào</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tạo</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hiện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tại</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8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Tính</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chính</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xác</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8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tin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điểm</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chuẩn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thứ</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tự</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phân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tầng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chất</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lượng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Chuyên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Vị</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Thanh &gt; Long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Mỹ</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&gt;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Tây</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Đô</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đã</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được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đối</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chiếu</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qua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nhiều</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nguồn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tin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uy</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tín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văn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của</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Sở</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GD&amp;ĐT,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báo</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chí</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chính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thống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8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Đảm</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bảo</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tính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trung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thực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khách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quan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không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chứa</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tin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đánh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giá</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tiêu</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cực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thiếu</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căn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cứ</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8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Tính</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đầy</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đủ</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8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Cung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cấp</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bức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tranh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tổng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thể</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về</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từng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trường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bao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gồm</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80000"/>
              </a:lnSpc>
              <a:spcBef>
                <a:spcPct val="0"/>
              </a:spcBef>
              <a:spcAft>
                <a:spcPct val="0"/>
              </a:spcAft>
              <a:buClrTx/>
              <a:buSzTx/>
              <a:buNone/>
              <a:tabLst/>
            </a:pPr>
            <a:r>
              <a:rPr lang="en-US" altLang="en-US" cap="none" dirty="0">
                <a:latin typeface="Arial" panose="020B0604020202020204" pitchFamily="34" charset="0"/>
                <a:cs typeface="Arial" panose="020B0604020202020204" pitchFamily="34" charset="0"/>
              </a:rPr>
              <a:t>--</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Điểm</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chuẩn</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Yêu</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cầu</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đầu</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vào</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80000"/>
              </a:lnSpc>
              <a:spcBef>
                <a:spcPct val="0"/>
              </a:spcBef>
              <a:spcAft>
                <a:spcPct val="0"/>
              </a:spcAft>
              <a:buClrTx/>
              <a:buSzTx/>
              <a:buNone/>
              <a:tabLst/>
            </a:pPr>
            <a:r>
              <a:rPr lang="en-US" altLang="en-US" cap="none" dirty="0">
                <a:latin typeface="Arial" panose="020B0604020202020204" pitchFamily="34" charset="0"/>
                <a:cs typeface="Arial" panose="020B0604020202020204" pitchFamily="34" charset="0"/>
              </a:rPr>
              <a:t>-</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Chỉ</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tiêu</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tuyển</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sinh</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&amp;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Tỉ</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lệ</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đậu</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tốt</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nghiệp</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đại</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học</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80000"/>
              </a:lnSpc>
              <a:spcBef>
                <a:spcPct val="0"/>
              </a:spcBef>
              <a:spcAft>
                <a:spcPct val="0"/>
              </a:spcAft>
              <a:buClrTx/>
              <a:buSzTx/>
              <a:buNone/>
              <a:tabLst/>
            </a:pPr>
            <a:r>
              <a:rPr lang="en-US" altLang="en-US" cap="none" dirty="0">
                <a:latin typeface="Arial" panose="020B0604020202020204" pitchFamily="34" charset="0"/>
                <a:cs typeface="Arial" panose="020B0604020202020204" pitchFamily="34" charset="0"/>
              </a:rPr>
              <a:t>-</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Thế</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mạnh</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đào</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tạo</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&amp;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Môi</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trường</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học</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tập</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80000"/>
              </a:lnSpc>
              <a:spcBef>
                <a:spcPct val="0"/>
              </a:spcBef>
              <a:spcAft>
                <a:spcPct val="0"/>
              </a:spcAft>
              <a:buClrTx/>
              <a:buSzTx/>
              <a:buNone/>
              <a:tabLst/>
            </a:pPr>
            <a:r>
              <a:rPr lang="en-US" altLang="en-US" cap="none" dirty="0">
                <a:latin typeface="Arial" panose="020B0604020202020204" pitchFamily="34" charset="0"/>
                <a:cs typeface="Arial" panose="020B0604020202020204" pitchFamily="34" charset="0"/>
              </a:rPr>
              <a:t>-</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Các</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hoạt</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động</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ngoại</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khóa</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kỹ</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năng</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mềm</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8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Tính</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sử</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dụng</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được</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8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Nội</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dung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tin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tập</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trung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đúng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vào</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mục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đích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chọn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trường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THPT,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phù</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hợp</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với</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nhu</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cầu</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thực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tế</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của</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học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sinh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8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Tránh</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các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tiêu</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đề</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hay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thông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tin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giật</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gân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không</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liên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quan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40538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2D8B3-A998-4B6A-9952-3022F8FAAAFC}"/>
              </a:ext>
            </a:extLst>
          </p:cNvPr>
          <p:cNvSpPr>
            <a:spLocks noGrp="1"/>
          </p:cNvSpPr>
          <p:nvPr>
            <p:ph type="title"/>
          </p:nvPr>
        </p:nvSpPr>
        <p:spPr/>
        <p:txBody>
          <a:bodyPr>
            <a:normAutofit/>
          </a:bodyPr>
          <a:lstStyle/>
          <a:p>
            <a:r>
              <a:rPr lang="en-US" sz="3600" dirty="0" err="1"/>
              <a:t>Lựa</a:t>
            </a:r>
            <a:r>
              <a:rPr lang="en-US" sz="3600" dirty="0"/>
              <a:t> </a:t>
            </a:r>
            <a:r>
              <a:rPr lang="en-US" sz="3600" dirty="0" err="1"/>
              <a:t>chọn</a:t>
            </a:r>
            <a:r>
              <a:rPr lang="en-US" sz="3600" dirty="0"/>
              <a:t> </a:t>
            </a:r>
            <a:r>
              <a:rPr lang="en-US" sz="3600" dirty="0" err="1"/>
              <a:t>và</a:t>
            </a:r>
            <a:r>
              <a:rPr lang="en-US" sz="3600" dirty="0"/>
              <a:t> </a:t>
            </a:r>
            <a:r>
              <a:rPr lang="en-US" sz="3600" dirty="0" err="1"/>
              <a:t>sắp</a:t>
            </a:r>
            <a:r>
              <a:rPr lang="en-US" sz="3600" dirty="0"/>
              <a:t> </a:t>
            </a:r>
            <a:r>
              <a:rPr lang="en-US" sz="3600" dirty="0" err="1"/>
              <a:t>xếp</a:t>
            </a:r>
            <a:r>
              <a:rPr lang="en-US" sz="3600" dirty="0"/>
              <a:t> </a:t>
            </a:r>
            <a:r>
              <a:rPr lang="en-US" sz="3600" dirty="0" err="1"/>
              <a:t>thứ</a:t>
            </a:r>
            <a:r>
              <a:rPr lang="en-US" sz="3600" dirty="0"/>
              <a:t> </a:t>
            </a:r>
            <a:r>
              <a:rPr lang="en-US" sz="3600" dirty="0" err="1"/>
              <a:t>tự</a:t>
            </a:r>
            <a:endParaRPr lang="en-US" sz="3600" dirty="0"/>
          </a:p>
        </p:txBody>
      </p:sp>
      <p:sp>
        <p:nvSpPr>
          <p:cNvPr id="4" name="Rectangle 1">
            <a:extLst>
              <a:ext uri="{FF2B5EF4-FFF2-40B4-BE49-F238E27FC236}">
                <a16:creationId xmlns:a16="http://schemas.microsoft.com/office/drawing/2014/main" id="{366BAD70-8808-431F-B7BB-2881E495125E}"/>
              </a:ext>
            </a:extLst>
          </p:cNvPr>
          <p:cNvSpPr>
            <a:spLocks noGrp="1" noChangeArrowheads="1"/>
          </p:cNvSpPr>
          <p:nvPr>
            <p:ph sz="quarter" idx="13"/>
          </p:nvPr>
        </p:nvSpPr>
        <p:spPr bwMode="auto">
          <a:xfrm>
            <a:off x="685800" y="2310912"/>
            <a:ext cx="10839659"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Google Sans Text"/>
              </a:rPr>
              <a:t>Nguyện</a:t>
            </a:r>
            <a:r>
              <a:rPr kumimoji="0" lang="en-US" altLang="en-US" sz="1800" b="1" i="0" u="none" strike="noStrike" cap="none" normalizeH="0" baseline="0" dirty="0">
                <a:ln>
                  <a:noFill/>
                </a:ln>
                <a:solidFill>
                  <a:schemeClr val="tx1"/>
                </a:solidFill>
                <a:effectLst/>
                <a:latin typeface="Google Sans Text"/>
              </a:rPr>
              <a:t> </a:t>
            </a:r>
            <a:r>
              <a:rPr kumimoji="0" lang="en-US" altLang="en-US" sz="1800" b="1" i="0" u="none" strike="noStrike" cap="none" normalizeH="0" baseline="0" dirty="0" err="1">
                <a:ln>
                  <a:noFill/>
                </a:ln>
                <a:solidFill>
                  <a:schemeClr val="tx1"/>
                </a:solidFill>
                <a:effectLst/>
                <a:latin typeface="Google Sans Text"/>
              </a:rPr>
              <a:t>vọng</a:t>
            </a:r>
            <a:r>
              <a:rPr kumimoji="0" lang="en-US" altLang="en-US" sz="1800" b="1" i="0" u="none" strike="noStrike" cap="none" normalizeH="0" baseline="0" dirty="0">
                <a:ln>
                  <a:noFill/>
                </a:ln>
                <a:solidFill>
                  <a:schemeClr val="tx1"/>
                </a:solidFill>
                <a:effectLst/>
                <a:latin typeface="Google Sans Text"/>
              </a:rPr>
              <a:t> 1: TRƯỜNG THPT CHUYÊN VỊ THANH</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err="1">
                <a:ln>
                  <a:noFill/>
                </a:ln>
                <a:solidFill>
                  <a:schemeClr val="tx1"/>
                </a:solidFill>
                <a:effectLst/>
                <a:latin typeface="Google Sans Text"/>
              </a:rPr>
              <a:t>Lý</a:t>
            </a:r>
            <a:r>
              <a:rPr kumimoji="0" lang="en-US" altLang="en-US" sz="1800" b="0" i="1" u="none" strike="noStrike" cap="none" normalizeH="0" baseline="0" dirty="0">
                <a:ln>
                  <a:noFill/>
                </a:ln>
                <a:solidFill>
                  <a:schemeClr val="tx1"/>
                </a:solidFill>
                <a:effectLst/>
                <a:latin typeface="Google Sans Text"/>
              </a:rPr>
              <a:t> do </a:t>
            </a:r>
            <a:r>
              <a:rPr kumimoji="0" lang="en-US" altLang="en-US" sz="1800" b="0" i="1" u="none" strike="noStrike" cap="none" normalizeH="0" baseline="0" dirty="0" err="1">
                <a:ln>
                  <a:noFill/>
                </a:ln>
                <a:solidFill>
                  <a:schemeClr val="tx1"/>
                </a:solidFill>
                <a:effectLst/>
                <a:latin typeface="Google Sans Text"/>
              </a:rPr>
              <a:t>chọn</a:t>
            </a:r>
            <a:r>
              <a:rPr kumimoji="0" lang="en-US" altLang="en-US" sz="1800" b="0" i="1" u="none" strike="noStrike" cap="none" normalizeH="0" baseline="0" dirty="0">
                <a:ln>
                  <a:noFill/>
                </a:ln>
                <a:solidFill>
                  <a:schemeClr val="tx1"/>
                </a:solidFill>
                <a:effectLst/>
                <a:latin typeface="Google Sans Text"/>
              </a:rPr>
              <a:t>:</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Dành</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cho</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mục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tiêu</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phấn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đấu</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cao</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nhất</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phù</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hợp</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nếu</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có</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năng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lực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học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tập</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xuất</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sắc</a:t>
            </a:r>
            <a:r>
              <a:rPr kumimoji="0" lang="en-US" altLang="en-US" sz="1800" b="0" i="0" u="none" strike="noStrike" cap="none" normalizeH="0" baseline="0" dirty="0">
                <a:ln>
                  <a:noFill/>
                </a:ln>
                <a:solidFill>
                  <a:schemeClr val="tx1"/>
                </a:solidFill>
                <a:effectLst/>
                <a:latin typeface="Google Sans Text"/>
              </a:rPr>
              <a:t>/</a:t>
            </a:r>
            <a:r>
              <a:rPr kumimoji="0" lang="en-US" altLang="en-US" sz="1800" b="0" i="0" u="none" strike="noStrike" cap="none" normalizeH="0" baseline="0" dirty="0" err="1">
                <a:ln>
                  <a:noFill/>
                </a:ln>
                <a:solidFill>
                  <a:schemeClr val="tx1"/>
                </a:solidFill>
                <a:effectLst/>
                <a:latin typeface="Google Sans Text"/>
              </a:rPr>
              <a:t>giỏi,muốn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học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lớp</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chuyên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và</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phát</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triển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các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môn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thế</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mạnh</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Toán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Lý</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Hóa</a:t>
            </a:r>
            <a:r>
              <a:rPr kumimoji="0" lang="en-US" altLang="en-US" sz="1800" b="0" i="0" u="none" strike="noStrike" cap="none" normalizeH="0" baseline="0" dirty="0">
                <a:ln>
                  <a:noFill/>
                </a:ln>
                <a:solidFill>
                  <a:schemeClr val="tx1"/>
                </a:solidFill>
                <a:effectLst/>
                <a:latin typeface="Google Sans Text"/>
              </a:rPr>
              <a:t>, Anh...) </a:t>
            </a:r>
            <a:r>
              <a:rPr kumimoji="0" lang="en-US" altLang="en-US" sz="1800" b="0" i="0" u="none" strike="noStrike" cap="none" normalizeH="0" baseline="0" dirty="0" err="1">
                <a:ln>
                  <a:noFill/>
                </a:ln>
                <a:solidFill>
                  <a:schemeClr val="tx1"/>
                </a:solidFill>
                <a:effectLst/>
                <a:latin typeface="Google Sans Text"/>
              </a:rPr>
              <a:t>để</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thi</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học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sinh</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giỏi</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và</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vào</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các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trường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đại</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học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tốp</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đầu</a:t>
            </a:r>
            <a:r>
              <a:rPr kumimoji="0" lang="en-US" altLang="en-US" sz="1800" b="0" i="0" u="none" strike="noStrike" cap="none" normalizeH="0" baseline="0" dirty="0">
                <a:ln>
                  <a:noFill/>
                </a:ln>
                <a:solidFill>
                  <a:schemeClr val="tx1"/>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Google Sans Text"/>
              </a:rPr>
              <a:t>Nguyện</a:t>
            </a:r>
            <a:r>
              <a:rPr kumimoji="0" lang="en-US" altLang="en-US" sz="1800" b="1" i="0" u="none" strike="noStrike" cap="none" normalizeH="0" baseline="0" dirty="0">
                <a:ln>
                  <a:noFill/>
                </a:ln>
                <a:solidFill>
                  <a:schemeClr val="tx1"/>
                </a:solidFill>
                <a:effectLst/>
                <a:latin typeface="Google Sans Text"/>
              </a:rPr>
              <a:t> </a:t>
            </a:r>
            <a:r>
              <a:rPr kumimoji="0" lang="en-US" altLang="en-US" sz="1800" b="1" i="0" u="none" strike="noStrike" cap="none" normalizeH="0" baseline="0" dirty="0" err="1">
                <a:ln>
                  <a:noFill/>
                </a:ln>
                <a:solidFill>
                  <a:schemeClr val="tx1"/>
                </a:solidFill>
                <a:effectLst/>
                <a:latin typeface="Google Sans Text"/>
              </a:rPr>
              <a:t>vọng</a:t>
            </a:r>
            <a:r>
              <a:rPr kumimoji="0" lang="en-US" altLang="en-US" sz="1800" b="1" i="0" u="none" strike="noStrike" cap="none" normalizeH="0" baseline="0" dirty="0">
                <a:ln>
                  <a:noFill/>
                </a:ln>
                <a:solidFill>
                  <a:schemeClr val="tx1"/>
                </a:solidFill>
                <a:effectLst/>
                <a:latin typeface="Google Sans Text"/>
              </a:rPr>
              <a:t> 2: TRƯỜNG THPT LONG MỸ</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err="1">
                <a:ln>
                  <a:noFill/>
                </a:ln>
                <a:solidFill>
                  <a:schemeClr val="tx1"/>
                </a:solidFill>
                <a:effectLst/>
                <a:latin typeface="Google Sans Text"/>
              </a:rPr>
              <a:t>Lý</a:t>
            </a:r>
            <a:r>
              <a:rPr kumimoji="0" lang="en-US" altLang="en-US" sz="1800" b="0" i="1" u="none" strike="noStrike" cap="none" normalizeH="0" baseline="0" dirty="0">
                <a:ln>
                  <a:noFill/>
                </a:ln>
                <a:solidFill>
                  <a:schemeClr val="tx1"/>
                </a:solidFill>
                <a:effectLst/>
                <a:latin typeface="Google Sans Text"/>
              </a:rPr>
              <a:t> do </a:t>
            </a:r>
            <a:r>
              <a:rPr kumimoji="0" lang="en-US" altLang="en-US" sz="1800" b="0" i="1" u="none" strike="noStrike" cap="none" normalizeH="0" baseline="0" dirty="0" err="1">
                <a:ln>
                  <a:noFill/>
                </a:ln>
                <a:solidFill>
                  <a:schemeClr val="tx1"/>
                </a:solidFill>
                <a:effectLst/>
                <a:latin typeface="Google Sans Text"/>
              </a:rPr>
              <a:t>chọn</a:t>
            </a:r>
            <a:r>
              <a:rPr kumimoji="0" lang="en-US" altLang="en-US" sz="1800" b="0" i="1" u="none" strike="noStrike" cap="none" normalizeH="0" baseline="0" dirty="0">
                <a:ln>
                  <a:noFill/>
                </a:ln>
                <a:solidFill>
                  <a:schemeClr val="tx1"/>
                </a:solidFill>
                <a:effectLst/>
                <a:latin typeface="Google Sans Text"/>
              </a:rPr>
              <a:t>:</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Phương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án</a:t>
            </a:r>
            <a:r>
              <a:rPr kumimoji="0" lang="en-US" altLang="en-US" sz="1800" b="0" i="0" u="none" strike="noStrike" cap="none" normalizeH="0" baseline="0" dirty="0">
                <a:ln>
                  <a:noFill/>
                </a:ln>
                <a:solidFill>
                  <a:schemeClr val="tx1"/>
                </a:solidFill>
                <a:effectLst/>
                <a:latin typeface="Google Sans Text"/>
              </a:rPr>
              <a:t> an </a:t>
            </a:r>
            <a:r>
              <a:rPr kumimoji="0" lang="en-US" altLang="en-US" sz="1800" b="0" i="0" u="none" strike="noStrike" cap="none" normalizeH="0" baseline="0" dirty="0" err="1">
                <a:ln>
                  <a:noFill/>
                </a:ln>
                <a:solidFill>
                  <a:schemeClr val="tx1"/>
                </a:solidFill>
                <a:effectLst/>
                <a:latin typeface="Google Sans Text"/>
              </a:rPr>
              <a:t>toàn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hàng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đầu</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chất</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lượng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đào</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tạo</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tốt</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thuộc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tốp</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đầu</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các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trường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đại</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học</a:t>
            </a:r>
            <a:r>
              <a:rPr kumimoji="0" lang="en-US" altLang="en-US" sz="1800" b="0" i="0" u="none" strike="noStrike" cap="none" normalizeH="0" baseline="0" dirty="0">
                <a:ln>
                  <a:noFill/>
                </a:ln>
                <a:solidFill>
                  <a:schemeClr val="tx1"/>
                </a:solidFill>
                <a:effectLst/>
                <a:latin typeface="Google Sans Text"/>
              </a:rPr>
              <a:t>/</a:t>
            </a:r>
            <a:r>
              <a:rPr kumimoji="0" lang="en-US" altLang="en-US" sz="1800" b="0" i="0" u="none" strike="noStrike" cap="none" normalizeH="0" baseline="0" dirty="0" err="1">
                <a:ln>
                  <a:noFill/>
                </a:ln>
                <a:solidFill>
                  <a:schemeClr val="tx1"/>
                </a:solidFill>
                <a:effectLst/>
                <a:latin typeface="Google Sans Text"/>
              </a:rPr>
              <a:t>không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chuyên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của</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khu</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vực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điểm</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chuẩn</a:t>
            </a:r>
            <a:r>
              <a:rPr kumimoji="0" lang="en-US" altLang="en-US" sz="1800" b="0" i="0" u="none" strike="noStrike" cap="none" normalizeH="0" baseline="0" dirty="0">
                <a:ln>
                  <a:noFill/>
                </a:ln>
                <a:solidFill>
                  <a:schemeClr val="tx1"/>
                </a:solidFill>
                <a:effectLst/>
                <a:latin typeface="Google Sans Text"/>
              </a:rPr>
              <a:t> ở </a:t>
            </a:r>
            <a:r>
              <a:rPr kumimoji="0" lang="en-US" altLang="en-US" sz="1800" b="0" i="0" u="none" strike="noStrike" cap="none" normalizeH="0" baseline="0" dirty="0" err="1">
                <a:ln>
                  <a:noFill/>
                </a:ln>
                <a:solidFill>
                  <a:schemeClr val="tx1"/>
                </a:solidFill>
                <a:effectLst/>
                <a:latin typeface="Google Sans Text"/>
              </a:rPr>
              <a:t>mức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khá</a:t>
            </a:r>
            <a:r>
              <a:rPr kumimoji="0" lang="en-US" altLang="en-US" sz="1800" b="0" i="0" u="none" strike="noStrike" cap="none" normalizeH="0" baseline="0" dirty="0">
                <a:ln>
                  <a:noFill/>
                </a:ln>
                <a:solidFill>
                  <a:schemeClr val="tx1"/>
                </a:solidFill>
                <a:effectLst/>
                <a:latin typeface="Google Sans Text"/>
              </a:rPr>
              <a:t> - </a:t>
            </a:r>
            <a:r>
              <a:rPr kumimoji="0" lang="en-US" altLang="en-US" sz="1800" b="0" i="0" u="none" strike="noStrike" cap="none" normalizeH="0" baseline="0" dirty="0" err="1">
                <a:ln>
                  <a:noFill/>
                </a:ln>
                <a:solidFill>
                  <a:schemeClr val="tx1"/>
                </a:solidFill>
                <a:effectLst/>
                <a:latin typeface="Google Sans Text"/>
              </a:rPr>
              <a:t>phù</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hợp</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với</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năng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lực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học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khá</a:t>
            </a:r>
            <a:r>
              <a:rPr kumimoji="0" lang="en-US" altLang="en-US" sz="1800" b="0" i="0" u="none" strike="noStrike" cap="none" normalizeH="0" baseline="0" dirty="0">
                <a:ln>
                  <a:noFill/>
                </a:ln>
                <a:solidFill>
                  <a:schemeClr val="tx1"/>
                </a:solidFill>
                <a:effectLst/>
                <a:latin typeface="Google Sans Text"/>
              </a:rPr>
              <a:t> - </a:t>
            </a:r>
            <a:r>
              <a:rPr kumimoji="0" lang="en-US" altLang="en-US" sz="1800" b="0" i="0" u="none" strike="noStrike" cap="none" normalizeH="0" baseline="0" dirty="0" err="1">
                <a:ln>
                  <a:noFill/>
                </a:ln>
                <a:solidFill>
                  <a:schemeClr val="tx1"/>
                </a:solidFill>
                <a:effectLst/>
                <a:latin typeface="Google Sans Text"/>
              </a:rPr>
              <a:t>giỏi</a:t>
            </a:r>
            <a:r>
              <a:rPr kumimoji="0" lang="en-US" altLang="en-US" sz="1800" b="0" i="0" u="none" strike="noStrike" cap="none" normalizeH="0" baseline="0" dirty="0">
                <a:ln>
                  <a:noFill/>
                </a:ln>
                <a:solidFill>
                  <a:schemeClr val="tx1"/>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Google Sans Text"/>
              </a:rPr>
              <a:t>Nguyện</a:t>
            </a:r>
            <a:r>
              <a:rPr kumimoji="0" lang="en-US" altLang="en-US" sz="1800" b="1" i="0" u="none" strike="noStrike" cap="none" normalizeH="0" baseline="0" dirty="0">
                <a:ln>
                  <a:noFill/>
                </a:ln>
                <a:solidFill>
                  <a:schemeClr val="tx1"/>
                </a:solidFill>
                <a:effectLst/>
                <a:latin typeface="Google Sans Text"/>
              </a:rPr>
              <a:t> </a:t>
            </a:r>
            <a:r>
              <a:rPr kumimoji="0" lang="en-US" altLang="en-US" sz="1800" b="1" i="0" u="none" strike="noStrike" cap="none" normalizeH="0" baseline="0" dirty="0" err="1">
                <a:ln>
                  <a:noFill/>
                </a:ln>
                <a:solidFill>
                  <a:schemeClr val="tx1"/>
                </a:solidFill>
                <a:effectLst/>
                <a:latin typeface="Google Sans Text"/>
              </a:rPr>
              <a:t>vọng</a:t>
            </a:r>
            <a:r>
              <a:rPr kumimoji="0" lang="en-US" altLang="en-US" sz="1800" b="1" i="0" u="none" strike="noStrike" cap="none" normalizeH="0" baseline="0" dirty="0">
                <a:ln>
                  <a:noFill/>
                </a:ln>
                <a:solidFill>
                  <a:schemeClr val="tx1"/>
                </a:solidFill>
                <a:effectLst/>
                <a:latin typeface="Google Sans Text"/>
              </a:rPr>
              <a:t> 3: TRƯỜNG THPT TÂY ĐÔ</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err="1">
                <a:ln>
                  <a:noFill/>
                </a:ln>
                <a:solidFill>
                  <a:schemeClr val="tx1"/>
                </a:solidFill>
                <a:effectLst/>
                <a:latin typeface="Google Sans Text"/>
              </a:rPr>
              <a:t>Lý</a:t>
            </a:r>
            <a:r>
              <a:rPr kumimoji="0" lang="en-US" altLang="en-US" sz="1800" b="0" i="1" u="none" strike="noStrike" cap="none" normalizeH="0" baseline="0" dirty="0">
                <a:ln>
                  <a:noFill/>
                </a:ln>
                <a:solidFill>
                  <a:schemeClr val="tx1"/>
                </a:solidFill>
                <a:effectLst/>
                <a:latin typeface="Google Sans Text"/>
              </a:rPr>
              <a:t> do </a:t>
            </a:r>
            <a:r>
              <a:rPr kumimoji="0" lang="en-US" altLang="en-US" sz="1800" b="0" i="1" u="none" strike="noStrike" cap="none" normalizeH="0" baseline="0" dirty="0" err="1">
                <a:ln>
                  <a:noFill/>
                </a:ln>
                <a:solidFill>
                  <a:schemeClr val="tx1"/>
                </a:solidFill>
                <a:effectLst/>
                <a:latin typeface="Google Sans Text"/>
              </a:rPr>
              <a:t>chọn</a:t>
            </a:r>
            <a:r>
              <a:rPr kumimoji="0" lang="en-US" altLang="en-US" sz="1800" b="0" i="1" u="none" strike="noStrike" cap="none" normalizeH="0" baseline="0" dirty="0">
                <a:ln>
                  <a:noFill/>
                </a:ln>
                <a:solidFill>
                  <a:schemeClr val="tx1"/>
                </a:solidFill>
                <a:effectLst/>
                <a:latin typeface="Google Sans Text"/>
              </a:rPr>
              <a:t>:</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Phương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án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dự</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phòng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chắc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chắn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điểm</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chuẩn</a:t>
            </a:r>
            <a:r>
              <a:rPr kumimoji="0" lang="en-US" altLang="en-US" sz="1800" b="0" i="0" u="none" strike="noStrike" cap="none" normalizeH="0" baseline="0" dirty="0">
                <a:ln>
                  <a:noFill/>
                </a:ln>
                <a:solidFill>
                  <a:schemeClr val="tx1"/>
                </a:solidFill>
                <a:effectLst/>
                <a:latin typeface="Google Sans Text"/>
              </a:rPr>
              <a:t> ở </a:t>
            </a:r>
            <a:r>
              <a:rPr kumimoji="0" lang="en-US" altLang="en-US" sz="1800" b="0" i="0" u="none" strike="noStrike" cap="none" normalizeH="0" baseline="0" dirty="0" err="1">
                <a:ln>
                  <a:noFill/>
                </a:ln>
                <a:solidFill>
                  <a:schemeClr val="tx1"/>
                </a:solidFill>
                <a:effectLst/>
                <a:latin typeface="Google Sans Text"/>
              </a:rPr>
              <a:t>mức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trung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bình</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thấp</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hơn</a:t>
            </a:r>
            <a:r>
              <a:rPr kumimoji="0" lang="en-US" altLang="en-US" sz="1800" b="0" i="0" u="none" strike="noStrike" cap="none" normalizeH="0" baseline="0" dirty="0">
                <a:ln>
                  <a:noFill/>
                </a:ln>
                <a:solidFill>
                  <a:schemeClr val="tx1"/>
                </a:solidFill>
                <a:effectLst/>
                <a:latin typeface="Google Sans Text"/>
              </a:rPr>
              <a:t> THPT Long </a:t>
            </a:r>
            <a:r>
              <a:rPr kumimoji="0" lang="en-US" altLang="en-US" sz="1800" b="0" i="0" u="none" strike="noStrike" cap="none" normalizeH="0" baseline="0" dirty="0" err="1">
                <a:ln>
                  <a:noFill/>
                </a:ln>
                <a:solidFill>
                  <a:schemeClr val="tx1"/>
                </a:solidFill>
                <a:effectLst/>
                <a:latin typeface="Google Sans Text"/>
              </a:rPr>
              <a:t>Mỹ</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môi</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trường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học</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tập</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thân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thiện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đảm</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bảo</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khả</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năng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trúng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tuyển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cao</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nếu</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kết</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quả</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thi</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không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đạt</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như</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kỳ</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vọng</a:t>
            </a:r>
            <a:r>
              <a:rPr kumimoji="0" lang="en-US" altLang="en-US" sz="1800" b="0" i="0" u="none" strike="noStrike" cap="none" normalizeH="0" baseline="0" dirty="0">
                <a:ln>
                  <a:noFill/>
                </a:ln>
                <a:solidFill>
                  <a:schemeClr val="tx1"/>
                </a:solidFill>
                <a:effectLst/>
                <a:latin typeface="Google Sans Text"/>
              </a:rPr>
              <a:t> ở 2 </a:t>
            </a:r>
            <a:r>
              <a:rPr kumimoji="0" lang="en-US" altLang="en-US" sz="1800" b="0" i="0" u="none" strike="noStrike" cap="none" normalizeH="0" baseline="0" dirty="0" err="1">
                <a:ln>
                  <a:noFill/>
                </a:ln>
                <a:solidFill>
                  <a:schemeClr val="tx1"/>
                </a:solidFill>
                <a:effectLst/>
                <a:latin typeface="Google Sans Text"/>
              </a:rPr>
              <a:t>nguyện</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vọng</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trên</a:t>
            </a:r>
            <a:r>
              <a:rPr kumimoji="0" lang="en-US" altLang="en-US" sz="1800" b="0" i="0" u="none" strike="noStrike" cap="none" normalizeH="0" baseline="0" dirty="0">
                <a:ln>
                  <a:noFill/>
                </a:ln>
                <a:solidFill>
                  <a:schemeClr val="tx1"/>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7498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8E665F-010A-4CF3-9B64-5888D0D74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06298C-2B85-4792-A270-37572A4A6AD3}"/>
              </a:ext>
            </a:extLst>
          </p:cNvPr>
          <p:cNvSpPr>
            <a:spLocks noGrp="1"/>
          </p:cNvSpPr>
          <p:nvPr>
            <p:ph type="title"/>
          </p:nvPr>
        </p:nvSpPr>
        <p:spPr>
          <a:xfrm>
            <a:off x="699581" y="2281084"/>
            <a:ext cx="10792837" cy="2290915"/>
          </a:xfrm>
        </p:spPr>
        <p:txBody>
          <a:bodyPr>
            <a:normAutofit/>
          </a:bodyPr>
          <a:lstStyle/>
          <a:p>
            <a:r>
              <a:rPr lang="en-US" dirty="0" err="1"/>
              <a:t>Cảm</a:t>
            </a:r>
            <a:r>
              <a:rPr lang="en-US" dirty="0"/>
              <a:t> </a:t>
            </a:r>
            <a:r>
              <a:rPr lang="en-US" dirty="0" err="1"/>
              <a:t>ơn</a:t>
            </a:r>
            <a:r>
              <a:rPr lang="en-US" dirty="0"/>
              <a:t> </a:t>
            </a:r>
            <a:r>
              <a:rPr lang="en-US" dirty="0" err="1"/>
              <a:t>cô</a:t>
            </a:r>
            <a:r>
              <a:rPr lang="en-US" dirty="0"/>
              <a:t> </a:t>
            </a:r>
            <a:r>
              <a:rPr lang="en-US" dirty="0" err="1"/>
              <a:t>và</a:t>
            </a:r>
            <a:r>
              <a:rPr lang="en-US" dirty="0"/>
              <a:t> </a:t>
            </a:r>
            <a:r>
              <a:rPr lang="en-US" dirty="0" err="1"/>
              <a:t>các</a:t>
            </a:r>
            <a:r>
              <a:rPr lang="en-US" dirty="0"/>
              <a:t> </a:t>
            </a:r>
            <a:r>
              <a:rPr lang="en-US" dirty="0" err="1"/>
              <a:t>bạn</a:t>
            </a:r>
            <a:r>
              <a:rPr lang="en-US" dirty="0"/>
              <a:t> </a:t>
            </a:r>
            <a:r>
              <a:rPr lang="en-US" dirty="0" err="1"/>
              <a:t>đã</a:t>
            </a:r>
            <a:r>
              <a:rPr lang="en-US" dirty="0"/>
              <a:t> </a:t>
            </a:r>
            <a:r>
              <a:rPr lang="en-US"/>
              <a:t>xem</a:t>
            </a:r>
            <a:endParaRPr lang="en-US" dirty="0"/>
          </a:p>
        </p:txBody>
      </p:sp>
    </p:spTree>
    <p:extLst>
      <p:ext uri="{BB962C8B-B14F-4D97-AF65-F5344CB8AC3E}">
        <p14:creationId xmlns:p14="http://schemas.microsoft.com/office/powerpoint/2010/main" val="1697004709"/>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TM04033927[[fn=Main Event]]</Template>
  <TotalTime>132</TotalTime>
  <Words>1167</Words>
  <Application>Microsoft Office PowerPoint</Application>
  <PresentationFormat>Widescreen</PresentationFormat>
  <Paragraphs>63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Google Sans Text</vt:lpstr>
      <vt:lpstr>Impact</vt:lpstr>
      <vt:lpstr>Main Event</vt:lpstr>
      <vt:lpstr>THỰC HÀNH: ĐÁNH GIÁ CHẤT LƯỢNG THÔNG TIN</vt:lpstr>
      <vt:lpstr>Nhiệm vụ 1: tìm kiếm theo mục đích, yêu cầu.</vt:lpstr>
      <vt:lpstr>Trường Trung Học Phổ Thông Chuyên Lý Tự Trong</vt:lpstr>
      <vt:lpstr>Trường Trung Học Phổ Thông Chuyên Vị Thanh</vt:lpstr>
      <vt:lpstr>Trường Trung Học Phổ Thông Long Mỹ</vt:lpstr>
      <vt:lpstr>Trường Trung Học Phổ Thông Tây Đô</vt:lpstr>
      <vt:lpstr>NhiỆM VỤ 2: QUYẾT ĐỊNH DỰA TRÊN CHẤT LƯỢNG THÔNG TIN.</vt:lpstr>
      <vt:lpstr>Đánh giá thông tin</vt:lpstr>
      <vt:lpstr>Lựa chọn và sắp xếp thứ tự</vt:lpstr>
      <vt:lpstr>Cảm ơn cô và các bạn đã xem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Nhiệm vụ 1:Tìm kiếm theo mục đích, yêu cầu</dc:title>
  <dc:creator>Nguyen Tri Thanh</dc:creator>
  <cp:lastModifiedBy>Trí Thành Ng</cp:lastModifiedBy>
  <cp:revision>14</cp:revision>
  <dcterms:created xsi:type="dcterms:W3CDTF">2026-10-16T02:15:04Z</dcterms:created>
  <dcterms:modified xsi:type="dcterms:W3CDTF">2026-10-16T04:27:28Z</dcterms:modified>
</cp:coreProperties>
</file>